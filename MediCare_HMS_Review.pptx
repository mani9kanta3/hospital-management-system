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 We are presenting our Hospital Management System project. It is a responsive web application built using React and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team of three. Work was divided module wise so that all of us could work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small hospitals everything is still manual. We wanted to solve the booking and record keeping part using a simple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scope realistic for one semester. Payment and database are in our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SDLC is the standard set of phases. Planning, requirements, design, coding, testing, deployment and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Agile we work in short cycles called sprints. After every sprint we have something working that we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Explain that requirements changed mid project and Agile handled it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means what the system does. Non functional means how it behaves, like speed and responsiveness.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one colour scheme across all pages so the site looks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was picked for a reason. Bootstrap saved us a lot of time on responsiveness.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Walk through the full flow.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DevTools and resize live. Show the navbar collapsing into hamburger at mobile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VS Code. Go file by file in this order. Keep it short, around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link in a new tab before the review so it is already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all six boxes with real screenshots from your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JSON is temporary and Python Flask or Django backend is the immediate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ma'am.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047"/>
        </a:solidFill>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0A305F"/>
          </a:solidFill>
          <a:ln/>
        </p:spPr>
      </p:sp>
      <p:sp>
        <p:nvSpPr>
          <p:cNvPr id="3" name="Shape 1"/>
          <p:cNvSpPr/>
          <p:nvPr/>
        </p:nvSpPr>
        <p:spPr>
          <a:xfrm>
            <a:off x="-1280160" y="4663440"/>
            <a:ext cx="3291840" cy="3291840"/>
          </a:xfrm>
          <a:prstGeom prst="ellipse">
            <a:avLst/>
          </a:prstGeom>
          <a:solidFill>
            <a:srgbClr val="0A305F"/>
          </a:solidFill>
          <a:ln/>
        </p:spPr>
      </p:sp>
      <p:sp>
        <p:nvSpPr>
          <p:cNvPr id="4" name="Shape 2"/>
          <p:cNvSpPr/>
          <p:nvPr/>
        </p:nvSpPr>
        <p:spPr>
          <a:xfrm>
            <a:off x="640080" y="1234440"/>
            <a:ext cx="868680" cy="868680"/>
          </a:xfrm>
          <a:prstGeom prst="ellipse">
            <a:avLst/>
          </a:prstGeom>
          <a:solidFill>
            <a:srgbClr val="0D6EFD"/>
          </a:solidFill>
          <a:ln/>
        </p:spPr>
      </p:sp>
      <p:sp>
        <p:nvSpPr>
          <p:cNvPr id="5" name="Text 3"/>
          <p:cNvSpPr/>
          <p:nvPr/>
        </p:nvSpPr>
        <p:spPr>
          <a:xfrm>
            <a:off x="640080" y="1234440"/>
            <a:ext cx="86868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6" name="Text 4"/>
          <p:cNvSpPr/>
          <p:nvPr/>
        </p:nvSpPr>
        <p:spPr>
          <a:xfrm>
            <a:off x="640080" y="2286000"/>
            <a:ext cx="86868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MediCare Hospital</a:t>
            </a:r>
            <a:endParaRPr lang="en-US" sz="4600" dirty="0"/>
          </a:p>
        </p:txBody>
      </p:sp>
      <p:sp>
        <p:nvSpPr>
          <p:cNvPr id="7" name="Text 5"/>
          <p:cNvSpPr/>
          <p:nvPr/>
        </p:nvSpPr>
        <p:spPr>
          <a:xfrm>
            <a:off x="640080" y="3063240"/>
            <a:ext cx="8686800" cy="548640"/>
          </a:xfrm>
          <a:prstGeom prst="rect">
            <a:avLst/>
          </a:prstGeom>
          <a:noFill/>
          <a:ln/>
        </p:spPr>
        <p:txBody>
          <a:bodyPr wrap="square" lIns="0" tIns="0" rIns="0" bIns="0" rtlCol="0" anchor="ctr"/>
          <a:lstStyle/>
          <a:p>
            <a:pPr indent="0" marL="0">
              <a:buNone/>
            </a:pPr>
            <a:r>
              <a:rPr lang="en-US" sz="2600" dirty="0">
                <a:solidFill>
                  <a:srgbClr val="DCEEFF"/>
                </a:solidFill>
                <a:latin typeface="Cambria" pitchFamily="34" charset="0"/>
                <a:ea typeface="Cambria" pitchFamily="34" charset="-122"/>
                <a:cs typeface="Cambria" pitchFamily="34" charset="-120"/>
              </a:rPr>
              <a:t>Hospital Management System</a:t>
            </a:r>
            <a:endParaRPr lang="en-US" sz="2600" dirty="0"/>
          </a:p>
        </p:txBody>
      </p:sp>
      <p:sp>
        <p:nvSpPr>
          <p:cNvPr id="8" name="Text 6"/>
          <p:cNvSpPr/>
          <p:nvPr/>
        </p:nvSpPr>
        <p:spPr>
          <a:xfrm>
            <a:off x="640080" y="3657600"/>
            <a:ext cx="8686800" cy="365760"/>
          </a:xfrm>
          <a:prstGeom prst="rect">
            <a:avLst/>
          </a:prstGeom>
          <a:noFill/>
          <a:ln/>
        </p:spPr>
        <p:txBody>
          <a:bodyPr wrap="square" lIns="0" tIns="0" rIns="0" bIns="0" rtlCol="0" anchor="ctr"/>
          <a:lstStyle/>
          <a:p>
            <a:pPr indent="0" marL="0">
              <a:buNone/>
            </a:pPr>
            <a:r>
              <a:rPr lang="en-US" sz="1400" dirty="0">
                <a:solidFill>
                  <a:srgbClr val="9BB4D4"/>
                </a:solidFill>
                <a:latin typeface="Calibri" pitchFamily="34" charset="0"/>
                <a:ea typeface="Calibri" pitchFamily="34" charset="-122"/>
                <a:cs typeface="Calibri" pitchFamily="34" charset="-120"/>
              </a:rPr>
              <a:t>A responsive web application built with React and Bootstrap</a:t>
            </a:r>
            <a:endParaRPr lang="en-US" sz="1400" dirty="0"/>
          </a:p>
        </p:txBody>
      </p:sp>
      <p:sp>
        <p:nvSpPr>
          <p:cNvPr id="9" name="Text 7"/>
          <p:cNvSpPr/>
          <p:nvPr/>
        </p:nvSpPr>
        <p:spPr>
          <a:xfrm>
            <a:off x="640080" y="5029200"/>
            <a:ext cx="8686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a:t>
            </a:r>
            <a:pPr indent="0" marL="0">
              <a:buNone/>
            </a:pPr>
            <a:r>
              <a:rPr lang="en-US" sz="1500" dirty="0">
                <a:solidFill>
                  <a:srgbClr val="DCEEFF"/>
                </a:solidFill>
                <a:latin typeface="Calibri" pitchFamily="34" charset="0"/>
                <a:ea typeface="Calibri" pitchFamily="34" charset="-122"/>
                <a:cs typeface="Calibri" pitchFamily="34" charset="-120"/>
              </a:rPr>
              <a:t>Manikanta  |  Nandini  |  Chaitanya</a:t>
            </a:r>
            <a:endParaRPr lang="en-US" sz="1500" dirty="0"/>
          </a:p>
        </p:txBody>
      </p:sp>
      <p:sp>
        <p:nvSpPr>
          <p:cNvPr id="10" name="Text 8"/>
          <p:cNvSpPr/>
          <p:nvPr/>
        </p:nvSpPr>
        <p:spPr>
          <a:xfrm>
            <a:off x="640080" y="5440680"/>
            <a:ext cx="10058400" cy="320040"/>
          </a:xfrm>
          <a:prstGeom prst="rect">
            <a:avLst/>
          </a:prstGeom>
          <a:noFill/>
          <a:ln/>
        </p:spPr>
        <p:txBody>
          <a:bodyPr wrap="square" lIns="0" tIns="0" rIns="0" bIns="0" rtlCol="0" anchor="ctr"/>
          <a:lstStyle/>
          <a:p>
            <a:pPr indent="0" marL="0">
              <a:buNone/>
            </a:pPr>
            <a:r>
              <a:rPr lang="en-US" sz="1200" dirty="0">
                <a:solidFill>
                  <a:srgbClr val="9BB4D4"/>
                </a:solidFill>
                <a:latin typeface="Calibri" pitchFamily="34" charset="0"/>
                <a:ea typeface="Calibri" pitchFamily="34" charset="-122"/>
                <a:cs typeface="Calibri" pitchFamily="34" charset="-120"/>
              </a:rPr>
              <a:t>Guide: [Guide Name]     •     [College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Our Team</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Three members, work divided by module</a:t>
            </a:r>
            <a:endParaRPr lang="en-US" sz="1500" dirty="0"/>
          </a:p>
        </p:txBody>
      </p:sp>
      <p:sp>
        <p:nvSpPr>
          <p:cNvPr id="4" name="Shape 2"/>
          <p:cNvSpPr/>
          <p:nvPr/>
        </p:nvSpPr>
        <p:spPr>
          <a:xfrm>
            <a:off x="640080" y="1828800"/>
            <a:ext cx="3361944" cy="4023360"/>
          </a:xfrm>
          <a:prstGeom prst="roundRect">
            <a:avLst>
              <a:gd name="adj" fmla="val 3264"/>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Shape 3"/>
          <p:cNvSpPr/>
          <p:nvPr/>
        </p:nvSpPr>
        <p:spPr>
          <a:xfrm>
            <a:off x="1726692" y="2240280"/>
            <a:ext cx="1188720" cy="1188720"/>
          </a:xfrm>
          <a:prstGeom prst="ellipse">
            <a:avLst/>
          </a:prstGeom>
          <a:solidFill>
            <a:srgbClr val="0D6EFD"/>
          </a:solidFill>
          <a:ln/>
        </p:spPr>
      </p:sp>
      <p:sp>
        <p:nvSpPr>
          <p:cNvPr id="6" name="Text 4"/>
          <p:cNvSpPr/>
          <p:nvPr/>
        </p:nvSpPr>
        <p:spPr>
          <a:xfrm>
            <a:off x="1726692" y="224028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M</a:t>
            </a:r>
            <a:endParaRPr lang="en-US" sz="4000" dirty="0"/>
          </a:p>
        </p:txBody>
      </p:sp>
      <p:sp>
        <p:nvSpPr>
          <p:cNvPr id="7" name="Text 5"/>
          <p:cNvSpPr/>
          <p:nvPr/>
        </p:nvSpPr>
        <p:spPr>
          <a:xfrm>
            <a:off x="640080" y="3657600"/>
            <a:ext cx="3361944" cy="365760"/>
          </a:xfrm>
          <a:prstGeom prst="rect">
            <a:avLst/>
          </a:prstGeom>
          <a:noFill/>
          <a:ln/>
        </p:spPr>
        <p:txBody>
          <a:bodyPr wrap="square" lIns="0" tIns="0" rIns="0" bIns="0" rtlCol="0" anchor="ctr"/>
          <a:lstStyle/>
          <a:p>
            <a:pPr algn="ctr" indent="0" marL="0">
              <a:buNone/>
            </a:pPr>
            <a:r>
              <a:rPr lang="en-US" sz="1900" b="1" dirty="0">
                <a:solidFill>
                  <a:srgbClr val="042047"/>
                </a:solidFill>
                <a:latin typeface="Calibri" pitchFamily="34" charset="0"/>
                <a:ea typeface="Calibri" pitchFamily="34" charset="-122"/>
                <a:cs typeface="Calibri" pitchFamily="34" charset="-120"/>
              </a:rPr>
              <a:t>Manikanta</a:t>
            </a:r>
            <a:endParaRPr lang="en-US" sz="1900" dirty="0"/>
          </a:p>
        </p:txBody>
      </p:sp>
      <p:sp>
        <p:nvSpPr>
          <p:cNvPr id="8" name="Text 6"/>
          <p:cNvSpPr/>
          <p:nvPr/>
        </p:nvSpPr>
        <p:spPr>
          <a:xfrm>
            <a:off x="640080" y="4069080"/>
            <a:ext cx="3361944" cy="274320"/>
          </a:xfrm>
          <a:prstGeom prst="rect">
            <a:avLst/>
          </a:prstGeom>
          <a:noFill/>
          <a:ln/>
        </p:spPr>
        <p:txBody>
          <a:bodyPr wrap="square" lIns="0" tIns="0" rIns="0" bIns="0" rtlCol="0" anchor="ctr"/>
          <a:lstStyle/>
          <a:p>
            <a:pPr algn="ctr" indent="0" marL="0">
              <a:buNone/>
            </a:pPr>
            <a:r>
              <a:rPr lang="en-US" sz="1200" dirty="0">
                <a:solidFill>
                  <a:srgbClr val="0D6EFD"/>
                </a:solidFill>
                <a:latin typeface="Calibri" pitchFamily="34" charset="0"/>
                <a:ea typeface="Calibri" pitchFamily="34" charset="-122"/>
                <a:cs typeface="Calibri" pitchFamily="34" charset="-120"/>
              </a:rPr>
              <a:t>[Roll No]</a:t>
            </a:r>
            <a:endParaRPr lang="en-US" sz="1200" dirty="0"/>
          </a:p>
        </p:txBody>
      </p:sp>
      <p:sp>
        <p:nvSpPr>
          <p:cNvPr id="9" name="Text 7"/>
          <p:cNvSpPr/>
          <p:nvPr/>
        </p:nvSpPr>
        <p:spPr>
          <a:xfrm>
            <a:off x="914400" y="4526280"/>
            <a:ext cx="2813304" cy="91440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UI Components, Routing</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and Authentication</a:t>
            </a:r>
            <a:endParaRPr lang="en-US" sz="1300" dirty="0"/>
          </a:p>
        </p:txBody>
      </p:sp>
      <p:sp>
        <p:nvSpPr>
          <p:cNvPr id="10" name="Shape 8"/>
          <p:cNvSpPr/>
          <p:nvPr/>
        </p:nvSpPr>
        <p:spPr>
          <a:xfrm>
            <a:off x="4413504" y="1828800"/>
            <a:ext cx="3361944" cy="4023360"/>
          </a:xfrm>
          <a:prstGeom prst="roundRect">
            <a:avLst>
              <a:gd name="adj" fmla="val 3264"/>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1" name="Shape 9"/>
          <p:cNvSpPr/>
          <p:nvPr/>
        </p:nvSpPr>
        <p:spPr>
          <a:xfrm>
            <a:off x="5500116" y="2240280"/>
            <a:ext cx="1188720" cy="1188720"/>
          </a:xfrm>
          <a:prstGeom prst="ellipse">
            <a:avLst/>
          </a:prstGeom>
          <a:solidFill>
            <a:srgbClr val="0D6EFD"/>
          </a:solidFill>
          <a:ln/>
        </p:spPr>
      </p:sp>
      <p:sp>
        <p:nvSpPr>
          <p:cNvPr id="12" name="Text 10"/>
          <p:cNvSpPr/>
          <p:nvPr/>
        </p:nvSpPr>
        <p:spPr>
          <a:xfrm>
            <a:off x="5500116" y="224028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N</a:t>
            </a:r>
            <a:endParaRPr lang="en-US" sz="4000" dirty="0"/>
          </a:p>
        </p:txBody>
      </p:sp>
      <p:sp>
        <p:nvSpPr>
          <p:cNvPr id="13" name="Text 11"/>
          <p:cNvSpPr/>
          <p:nvPr/>
        </p:nvSpPr>
        <p:spPr>
          <a:xfrm>
            <a:off x="4413504" y="3657600"/>
            <a:ext cx="3361944" cy="365760"/>
          </a:xfrm>
          <a:prstGeom prst="rect">
            <a:avLst/>
          </a:prstGeom>
          <a:noFill/>
          <a:ln/>
        </p:spPr>
        <p:txBody>
          <a:bodyPr wrap="square" lIns="0" tIns="0" rIns="0" bIns="0" rtlCol="0" anchor="ctr"/>
          <a:lstStyle/>
          <a:p>
            <a:pPr algn="ctr" indent="0" marL="0">
              <a:buNone/>
            </a:pPr>
            <a:r>
              <a:rPr lang="en-US" sz="1900" b="1" dirty="0">
                <a:solidFill>
                  <a:srgbClr val="042047"/>
                </a:solidFill>
                <a:latin typeface="Calibri" pitchFamily="34" charset="0"/>
                <a:ea typeface="Calibri" pitchFamily="34" charset="-122"/>
                <a:cs typeface="Calibri" pitchFamily="34" charset="-120"/>
              </a:rPr>
              <a:t>Nandini</a:t>
            </a:r>
            <a:endParaRPr lang="en-US" sz="1900" dirty="0"/>
          </a:p>
        </p:txBody>
      </p:sp>
      <p:sp>
        <p:nvSpPr>
          <p:cNvPr id="14" name="Text 12"/>
          <p:cNvSpPr/>
          <p:nvPr/>
        </p:nvSpPr>
        <p:spPr>
          <a:xfrm>
            <a:off x="4413504" y="4069080"/>
            <a:ext cx="3361944" cy="274320"/>
          </a:xfrm>
          <a:prstGeom prst="rect">
            <a:avLst/>
          </a:prstGeom>
          <a:noFill/>
          <a:ln/>
        </p:spPr>
        <p:txBody>
          <a:bodyPr wrap="square" lIns="0" tIns="0" rIns="0" bIns="0" rtlCol="0" anchor="ctr"/>
          <a:lstStyle/>
          <a:p>
            <a:pPr algn="ctr" indent="0" marL="0">
              <a:buNone/>
            </a:pPr>
            <a:r>
              <a:rPr lang="en-US" sz="1200" dirty="0">
                <a:solidFill>
                  <a:srgbClr val="0D6EFD"/>
                </a:solidFill>
                <a:latin typeface="Calibri" pitchFamily="34" charset="0"/>
                <a:ea typeface="Calibri" pitchFamily="34" charset="-122"/>
                <a:cs typeface="Calibri" pitchFamily="34" charset="-120"/>
              </a:rPr>
              <a:t>[Roll No]</a:t>
            </a:r>
            <a:endParaRPr lang="en-US" sz="1200" dirty="0"/>
          </a:p>
        </p:txBody>
      </p:sp>
      <p:sp>
        <p:nvSpPr>
          <p:cNvPr id="15" name="Text 13"/>
          <p:cNvSpPr/>
          <p:nvPr/>
        </p:nvSpPr>
        <p:spPr>
          <a:xfrm>
            <a:off x="4687824" y="4526280"/>
            <a:ext cx="2813304" cy="91440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Doctors Page, Contact Page</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and Styling</a:t>
            </a:r>
            <a:endParaRPr lang="en-US" sz="1300" dirty="0"/>
          </a:p>
        </p:txBody>
      </p:sp>
      <p:sp>
        <p:nvSpPr>
          <p:cNvPr id="16" name="Shape 14"/>
          <p:cNvSpPr/>
          <p:nvPr/>
        </p:nvSpPr>
        <p:spPr>
          <a:xfrm>
            <a:off x="8186928" y="1828800"/>
            <a:ext cx="3361944" cy="4023360"/>
          </a:xfrm>
          <a:prstGeom prst="roundRect">
            <a:avLst>
              <a:gd name="adj" fmla="val 3264"/>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7" name="Shape 15"/>
          <p:cNvSpPr/>
          <p:nvPr/>
        </p:nvSpPr>
        <p:spPr>
          <a:xfrm>
            <a:off x="9273540" y="2240280"/>
            <a:ext cx="1188720" cy="1188720"/>
          </a:xfrm>
          <a:prstGeom prst="ellipse">
            <a:avLst/>
          </a:prstGeom>
          <a:solidFill>
            <a:srgbClr val="0D6EFD"/>
          </a:solidFill>
          <a:ln/>
        </p:spPr>
      </p:sp>
      <p:sp>
        <p:nvSpPr>
          <p:cNvPr id="18" name="Text 16"/>
          <p:cNvSpPr/>
          <p:nvPr/>
        </p:nvSpPr>
        <p:spPr>
          <a:xfrm>
            <a:off x="9273540" y="224028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a:t>
            </a:r>
            <a:endParaRPr lang="en-US" sz="4000" dirty="0"/>
          </a:p>
        </p:txBody>
      </p:sp>
      <p:sp>
        <p:nvSpPr>
          <p:cNvPr id="19" name="Text 17"/>
          <p:cNvSpPr/>
          <p:nvPr/>
        </p:nvSpPr>
        <p:spPr>
          <a:xfrm>
            <a:off x="8186928" y="3657600"/>
            <a:ext cx="3361944" cy="365760"/>
          </a:xfrm>
          <a:prstGeom prst="rect">
            <a:avLst/>
          </a:prstGeom>
          <a:noFill/>
          <a:ln/>
        </p:spPr>
        <p:txBody>
          <a:bodyPr wrap="square" lIns="0" tIns="0" rIns="0" bIns="0" rtlCol="0" anchor="ctr"/>
          <a:lstStyle/>
          <a:p>
            <a:pPr algn="ctr" indent="0" marL="0">
              <a:buNone/>
            </a:pPr>
            <a:r>
              <a:rPr lang="en-US" sz="1900" b="1" dirty="0">
                <a:solidFill>
                  <a:srgbClr val="042047"/>
                </a:solidFill>
                <a:latin typeface="Calibri" pitchFamily="34" charset="0"/>
                <a:ea typeface="Calibri" pitchFamily="34" charset="-122"/>
                <a:cs typeface="Calibri" pitchFamily="34" charset="-120"/>
              </a:rPr>
              <a:t>Chaitanya</a:t>
            </a:r>
            <a:endParaRPr lang="en-US" sz="1900" dirty="0"/>
          </a:p>
        </p:txBody>
      </p:sp>
      <p:sp>
        <p:nvSpPr>
          <p:cNvPr id="20" name="Text 18"/>
          <p:cNvSpPr/>
          <p:nvPr/>
        </p:nvSpPr>
        <p:spPr>
          <a:xfrm>
            <a:off x="8186928" y="4069080"/>
            <a:ext cx="3361944" cy="274320"/>
          </a:xfrm>
          <a:prstGeom prst="rect">
            <a:avLst/>
          </a:prstGeom>
          <a:noFill/>
          <a:ln/>
        </p:spPr>
        <p:txBody>
          <a:bodyPr wrap="square" lIns="0" tIns="0" rIns="0" bIns="0" rtlCol="0" anchor="ctr"/>
          <a:lstStyle/>
          <a:p>
            <a:pPr algn="ctr" indent="0" marL="0">
              <a:buNone/>
            </a:pPr>
            <a:r>
              <a:rPr lang="en-US" sz="1200" dirty="0">
                <a:solidFill>
                  <a:srgbClr val="0D6EFD"/>
                </a:solidFill>
                <a:latin typeface="Calibri" pitchFamily="34" charset="0"/>
                <a:ea typeface="Calibri" pitchFamily="34" charset="-122"/>
                <a:cs typeface="Calibri" pitchFamily="34" charset="-120"/>
              </a:rPr>
              <a:t>[Roll No]</a:t>
            </a:r>
            <a:endParaRPr lang="en-US" sz="1200" dirty="0"/>
          </a:p>
        </p:txBody>
      </p:sp>
      <p:sp>
        <p:nvSpPr>
          <p:cNvPr id="21" name="Text 19"/>
          <p:cNvSpPr/>
          <p:nvPr/>
        </p:nvSpPr>
        <p:spPr>
          <a:xfrm>
            <a:off x="8461248" y="4526280"/>
            <a:ext cx="2813304" cy="91440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Patient Registration,</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Dashboard and Testing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Introduction</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Why we picked this problem</a:t>
            </a:r>
            <a:endParaRPr lang="en-US" sz="1500" dirty="0"/>
          </a:p>
        </p:txBody>
      </p:sp>
      <p:sp>
        <p:nvSpPr>
          <p:cNvPr id="4" name="Shape 2"/>
          <p:cNvSpPr/>
          <p:nvPr/>
        </p:nvSpPr>
        <p:spPr>
          <a:xfrm>
            <a:off x="640080" y="1965960"/>
            <a:ext cx="566928" cy="566928"/>
          </a:xfrm>
          <a:prstGeom prst="ellipse">
            <a:avLst/>
          </a:prstGeom>
          <a:solidFill>
            <a:srgbClr val="DCEEFF"/>
          </a:solidFill>
          <a:ln/>
        </p:spPr>
      </p:sp>
      <p:sp>
        <p:nvSpPr>
          <p:cNvPr id="5" name="Text 3"/>
          <p:cNvSpPr/>
          <p:nvPr/>
        </p:nvSpPr>
        <p:spPr>
          <a:xfrm>
            <a:off x="640080" y="1965960"/>
            <a:ext cx="566928" cy="566928"/>
          </a:xfrm>
          <a:prstGeom prst="rect">
            <a:avLst/>
          </a:prstGeom>
          <a:noFill/>
          <a:ln/>
        </p:spPr>
        <p:txBody>
          <a:bodyPr wrap="square" lIns="0" tIns="0" rIns="0" bIns="0" rtlCol="0" anchor="ctr"/>
          <a:lstStyle/>
          <a:p>
            <a:pPr algn="ctr" indent="0" marL="0">
              <a:buNone/>
            </a:pPr>
            <a:r>
              <a:rPr lang="en-US" sz="1700" b="1" dirty="0">
                <a:solidFill>
                  <a:srgbClr val="0D6EFD"/>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1417320" y="1947672"/>
            <a:ext cx="5120640" cy="347472"/>
          </a:xfrm>
          <a:prstGeom prst="rect">
            <a:avLst/>
          </a:prstGeom>
          <a:noFill/>
          <a:ln/>
        </p:spPr>
        <p:txBody>
          <a:bodyPr wrap="square" lIns="0" tIns="0" rIns="0" bIns="0" rtlCol="0" anchor="ctr"/>
          <a:lstStyle/>
          <a:p>
            <a:pPr indent="0" marL="0">
              <a:buNone/>
            </a:pPr>
            <a:r>
              <a:rPr lang="en-US" sz="1700" b="1" dirty="0">
                <a:solidFill>
                  <a:srgbClr val="042047"/>
                </a:solidFill>
                <a:latin typeface="Calibri" pitchFamily="34" charset="0"/>
                <a:ea typeface="Calibri" pitchFamily="34" charset="-122"/>
                <a:cs typeface="Calibri" pitchFamily="34" charset="-120"/>
              </a:rPr>
              <a:t>Long waiting queues</a:t>
            </a:r>
            <a:endParaRPr lang="en-US" sz="1700" dirty="0"/>
          </a:p>
        </p:txBody>
      </p:sp>
      <p:sp>
        <p:nvSpPr>
          <p:cNvPr id="7" name="Text 5"/>
          <p:cNvSpPr/>
          <p:nvPr/>
        </p:nvSpPr>
        <p:spPr>
          <a:xfrm>
            <a:off x="1417320" y="2276856"/>
            <a:ext cx="5120640" cy="457200"/>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Patients wait for hours just to get a token for the doctor.</a:t>
            </a:r>
            <a:endParaRPr lang="en-US" sz="1300" dirty="0"/>
          </a:p>
        </p:txBody>
      </p:sp>
      <p:sp>
        <p:nvSpPr>
          <p:cNvPr id="8" name="Shape 6"/>
          <p:cNvSpPr/>
          <p:nvPr/>
        </p:nvSpPr>
        <p:spPr>
          <a:xfrm>
            <a:off x="640080" y="3264408"/>
            <a:ext cx="566928" cy="566928"/>
          </a:xfrm>
          <a:prstGeom prst="ellipse">
            <a:avLst/>
          </a:prstGeom>
          <a:solidFill>
            <a:srgbClr val="DCEEFF"/>
          </a:solidFill>
          <a:ln/>
        </p:spPr>
      </p:sp>
      <p:sp>
        <p:nvSpPr>
          <p:cNvPr id="9" name="Text 7"/>
          <p:cNvSpPr/>
          <p:nvPr/>
        </p:nvSpPr>
        <p:spPr>
          <a:xfrm>
            <a:off x="640080" y="3264408"/>
            <a:ext cx="566928" cy="566928"/>
          </a:xfrm>
          <a:prstGeom prst="rect">
            <a:avLst/>
          </a:prstGeom>
          <a:noFill/>
          <a:ln/>
        </p:spPr>
        <p:txBody>
          <a:bodyPr wrap="square" lIns="0" tIns="0" rIns="0" bIns="0" rtlCol="0" anchor="ctr"/>
          <a:lstStyle/>
          <a:p>
            <a:pPr algn="ctr" indent="0" marL="0">
              <a:buNone/>
            </a:pPr>
            <a:r>
              <a:rPr lang="en-US" sz="1700" b="1" dirty="0">
                <a:solidFill>
                  <a:srgbClr val="0D6EFD"/>
                </a:solidFill>
                <a:latin typeface="Calibri" pitchFamily="34" charset="0"/>
                <a:ea typeface="Calibri" pitchFamily="34" charset="-122"/>
                <a:cs typeface="Calibri" pitchFamily="34" charset="-120"/>
              </a:rPr>
              <a:t>2</a:t>
            </a:r>
            <a:endParaRPr lang="en-US" sz="1700" dirty="0"/>
          </a:p>
        </p:txBody>
      </p:sp>
      <p:sp>
        <p:nvSpPr>
          <p:cNvPr id="10" name="Text 8"/>
          <p:cNvSpPr/>
          <p:nvPr/>
        </p:nvSpPr>
        <p:spPr>
          <a:xfrm>
            <a:off x="1417320" y="3246120"/>
            <a:ext cx="5120640" cy="347472"/>
          </a:xfrm>
          <a:prstGeom prst="rect">
            <a:avLst/>
          </a:prstGeom>
          <a:noFill/>
          <a:ln/>
        </p:spPr>
        <p:txBody>
          <a:bodyPr wrap="square" lIns="0" tIns="0" rIns="0" bIns="0" rtlCol="0" anchor="ctr"/>
          <a:lstStyle/>
          <a:p>
            <a:pPr indent="0" marL="0">
              <a:buNone/>
            </a:pPr>
            <a:r>
              <a:rPr lang="en-US" sz="1700" b="1" dirty="0">
                <a:solidFill>
                  <a:srgbClr val="042047"/>
                </a:solidFill>
                <a:latin typeface="Calibri" pitchFamily="34" charset="0"/>
                <a:ea typeface="Calibri" pitchFamily="34" charset="-122"/>
                <a:cs typeface="Calibri" pitchFamily="34" charset="-120"/>
              </a:rPr>
              <a:t>Manual registers</a:t>
            </a:r>
            <a:endParaRPr lang="en-US" sz="1700" dirty="0"/>
          </a:p>
        </p:txBody>
      </p:sp>
      <p:sp>
        <p:nvSpPr>
          <p:cNvPr id="11" name="Text 9"/>
          <p:cNvSpPr/>
          <p:nvPr/>
        </p:nvSpPr>
        <p:spPr>
          <a:xfrm>
            <a:off x="1417320" y="3575304"/>
            <a:ext cx="5120640" cy="457200"/>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Patient details are still written in books. Records get lost easily.</a:t>
            </a:r>
            <a:endParaRPr lang="en-US" sz="1300" dirty="0"/>
          </a:p>
        </p:txBody>
      </p:sp>
      <p:sp>
        <p:nvSpPr>
          <p:cNvPr id="12" name="Shape 10"/>
          <p:cNvSpPr/>
          <p:nvPr/>
        </p:nvSpPr>
        <p:spPr>
          <a:xfrm>
            <a:off x="640080" y="4562856"/>
            <a:ext cx="566928" cy="566928"/>
          </a:xfrm>
          <a:prstGeom prst="ellipse">
            <a:avLst/>
          </a:prstGeom>
          <a:solidFill>
            <a:srgbClr val="DCEEFF"/>
          </a:solidFill>
          <a:ln/>
        </p:spPr>
      </p:sp>
      <p:sp>
        <p:nvSpPr>
          <p:cNvPr id="13" name="Text 11"/>
          <p:cNvSpPr/>
          <p:nvPr/>
        </p:nvSpPr>
        <p:spPr>
          <a:xfrm>
            <a:off x="640080" y="4562856"/>
            <a:ext cx="566928" cy="566928"/>
          </a:xfrm>
          <a:prstGeom prst="rect">
            <a:avLst/>
          </a:prstGeom>
          <a:noFill/>
          <a:ln/>
        </p:spPr>
        <p:txBody>
          <a:bodyPr wrap="square" lIns="0" tIns="0" rIns="0" bIns="0" rtlCol="0" anchor="ctr"/>
          <a:lstStyle/>
          <a:p>
            <a:pPr algn="ctr" indent="0" marL="0">
              <a:buNone/>
            </a:pPr>
            <a:r>
              <a:rPr lang="en-US" sz="1700" b="1" dirty="0">
                <a:solidFill>
                  <a:srgbClr val="0D6EF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544568"/>
            <a:ext cx="5120640" cy="347472"/>
          </a:xfrm>
          <a:prstGeom prst="rect">
            <a:avLst/>
          </a:prstGeom>
          <a:noFill/>
          <a:ln/>
        </p:spPr>
        <p:txBody>
          <a:bodyPr wrap="square" lIns="0" tIns="0" rIns="0" bIns="0" rtlCol="0" anchor="ctr"/>
          <a:lstStyle/>
          <a:p>
            <a:pPr indent="0" marL="0">
              <a:buNone/>
            </a:pPr>
            <a:r>
              <a:rPr lang="en-US" sz="1700" b="1" dirty="0">
                <a:solidFill>
                  <a:srgbClr val="042047"/>
                </a:solidFill>
                <a:latin typeface="Calibri" pitchFamily="34" charset="0"/>
                <a:ea typeface="Calibri" pitchFamily="34" charset="-122"/>
                <a:cs typeface="Calibri" pitchFamily="34" charset="-120"/>
              </a:rPr>
              <a:t>No online booking</a:t>
            </a:r>
            <a:endParaRPr lang="en-US" sz="1700" dirty="0"/>
          </a:p>
        </p:txBody>
      </p:sp>
      <p:sp>
        <p:nvSpPr>
          <p:cNvPr id="15" name="Text 13"/>
          <p:cNvSpPr/>
          <p:nvPr/>
        </p:nvSpPr>
        <p:spPr>
          <a:xfrm>
            <a:off x="1417320" y="4873752"/>
            <a:ext cx="5120640" cy="457200"/>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There is no way to check doctor availability before visiting.</a:t>
            </a:r>
            <a:endParaRPr lang="en-US" sz="1300" dirty="0"/>
          </a:p>
        </p:txBody>
      </p:sp>
      <p:sp>
        <p:nvSpPr>
          <p:cNvPr id="16" name="Shape 14"/>
          <p:cNvSpPr/>
          <p:nvPr/>
        </p:nvSpPr>
        <p:spPr>
          <a:xfrm>
            <a:off x="6949440" y="1828800"/>
            <a:ext cx="4617720" cy="4069080"/>
          </a:xfrm>
          <a:prstGeom prst="roundRect">
            <a:avLst>
              <a:gd name="adj" fmla="val 269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7" name="Text 15"/>
          <p:cNvSpPr/>
          <p:nvPr/>
        </p:nvSpPr>
        <p:spPr>
          <a:xfrm>
            <a:off x="7269480" y="2103120"/>
            <a:ext cx="4023360" cy="411480"/>
          </a:xfrm>
          <a:prstGeom prst="rect">
            <a:avLst/>
          </a:prstGeom>
          <a:noFill/>
          <a:ln/>
        </p:spPr>
        <p:txBody>
          <a:bodyPr wrap="square" lIns="0" tIns="0" rIns="0" bIns="0" rtlCol="0" anchor="ctr"/>
          <a:lstStyle/>
          <a:p>
            <a:pPr indent="0" marL="0">
              <a:buNone/>
            </a:pPr>
            <a:r>
              <a:rPr lang="en-US" sz="2400" b="1" dirty="0">
                <a:solidFill>
                  <a:srgbClr val="042047"/>
                </a:solidFill>
                <a:latin typeface="Cambria" pitchFamily="34" charset="0"/>
                <a:ea typeface="Cambria" pitchFamily="34" charset="-122"/>
                <a:cs typeface="Cambria" pitchFamily="34" charset="-120"/>
              </a:rPr>
              <a:t>Our Solution</a:t>
            </a:r>
            <a:endParaRPr lang="en-US" sz="2400" dirty="0"/>
          </a:p>
        </p:txBody>
      </p:sp>
      <p:sp>
        <p:nvSpPr>
          <p:cNvPr id="18" name="Text 16"/>
          <p:cNvSpPr/>
          <p:nvPr/>
        </p:nvSpPr>
        <p:spPr>
          <a:xfrm>
            <a:off x="7269480" y="2651760"/>
            <a:ext cx="4023360" cy="3017520"/>
          </a:xfrm>
          <a:prstGeom prst="rect">
            <a:avLst/>
          </a:prstGeom>
          <a:noFill/>
          <a:ln/>
        </p:spPr>
        <p:txBody>
          <a:bodyPr wrap="square" lIns="0" tIns="0" rIns="0" bIns="0" rtlCol="0" anchor="t"/>
          <a:lstStyle/>
          <a:p>
            <a:pPr indent="0" marL="0">
              <a:spcAft>
                <a:spcPts val="800"/>
              </a:spcAft>
              <a:buNone/>
            </a:pPr>
            <a:r>
              <a:rPr lang="en-US" sz="1300" dirty="0">
                <a:solidFill>
                  <a:srgbClr val="585858"/>
                </a:solidFill>
                <a:latin typeface="Calibri" pitchFamily="34" charset="0"/>
                <a:ea typeface="Calibri" pitchFamily="34" charset="-122"/>
                <a:cs typeface="Calibri" pitchFamily="34" charset="-120"/>
              </a:rPr>
              <a:t>A single web application where a patient can:</a:t>
            </a:r>
            <a:endParaRPr lang="en-US" sz="1400" dirty="0"/>
          </a:p>
          <a:p>
            <a:pPr marL="342900" indent="-342900">
              <a:spcAft>
                <a:spcPts val="800"/>
              </a:spcAft>
              <a:buSzPct val="100000"/>
              <a:buChar char="•"/>
            </a:pPr>
            <a:r>
              <a:rPr lang="en-US" sz="1400" dirty="0">
                <a:solidFill>
                  <a:srgbClr val="042047"/>
                </a:solidFill>
                <a:latin typeface="Calibri" pitchFamily="34" charset="0"/>
                <a:ea typeface="Calibri" pitchFamily="34" charset="-122"/>
                <a:cs typeface="Calibri" pitchFamily="34" charset="-120"/>
              </a:rPr>
              <a:t>Browse doctors and see their details</a:t>
            </a:r>
            <a:endParaRPr lang="en-US" sz="1400" dirty="0"/>
          </a:p>
          <a:p>
            <a:pPr marL="342900" indent="-342900">
              <a:spcAft>
                <a:spcPts val="800"/>
              </a:spcAft>
              <a:buSzPct val="100000"/>
              <a:buChar char="•"/>
            </a:pPr>
            <a:r>
              <a:rPr lang="en-US" sz="1400" dirty="0">
                <a:solidFill>
                  <a:srgbClr val="042047"/>
                </a:solidFill>
                <a:latin typeface="Calibri" pitchFamily="34" charset="0"/>
                <a:ea typeface="Calibri" pitchFamily="34" charset="-122"/>
                <a:cs typeface="Calibri" pitchFamily="34" charset="-120"/>
              </a:rPr>
              <a:t>Book an appointment online</a:t>
            </a:r>
            <a:endParaRPr lang="en-US" sz="1400" dirty="0"/>
          </a:p>
          <a:p>
            <a:pPr marL="342900" indent="-342900">
              <a:spcAft>
                <a:spcPts val="800"/>
              </a:spcAft>
              <a:buSzPct val="100000"/>
              <a:buChar char="•"/>
            </a:pPr>
            <a:r>
              <a:rPr lang="en-US" sz="1400" dirty="0">
                <a:solidFill>
                  <a:srgbClr val="042047"/>
                </a:solidFill>
                <a:latin typeface="Calibri" pitchFamily="34" charset="0"/>
                <a:ea typeface="Calibri" pitchFamily="34" charset="-122"/>
                <a:cs typeface="Calibri" pitchFamily="34" charset="-120"/>
              </a:rPr>
              <a:t>Register and manage their profile</a:t>
            </a:r>
            <a:endParaRPr lang="en-US" sz="1400" dirty="0"/>
          </a:p>
          <a:p>
            <a:pPr marL="342900" indent="-342900">
              <a:spcAft>
                <a:spcPts val="800"/>
              </a:spcAft>
              <a:buSzPct val="100000"/>
              <a:buChar char="•"/>
            </a:pPr>
            <a:r>
              <a:rPr lang="en-US" sz="1400" dirty="0">
                <a:solidFill>
                  <a:srgbClr val="042047"/>
                </a:solidFill>
                <a:latin typeface="Calibri" pitchFamily="34" charset="0"/>
                <a:ea typeface="Calibri" pitchFamily="34" charset="-122"/>
                <a:cs typeface="Calibri" pitchFamily="34" charset="-120"/>
              </a:rPr>
              <a:t>View everything on the admin dashboard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Objectives and Scope</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What we planned to build, and what we kept out</a:t>
            </a:r>
            <a:endParaRPr lang="en-US" sz="1500" dirty="0"/>
          </a:p>
        </p:txBody>
      </p:sp>
      <p:sp>
        <p:nvSpPr>
          <p:cNvPr id="4" name="Shape 2"/>
          <p:cNvSpPr/>
          <p:nvPr/>
        </p:nvSpPr>
        <p:spPr>
          <a:xfrm>
            <a:off x="640080" y="1783080"/>
            <a:ext cx="6492240" cy="4114800"/>
          </a:xfrm>
          <a:prstGeom prst="roundRect">
            <a:avLst>
              <a:gd name="adj" fmla="val 266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Text 3"/>
          <p:cNvSpPr/>
          <p:nvPr/>
        </p:nvSpPr>
        <p:spPr>
          <a:xfrm>
            <a:off x="960120" y="2011680"/>
            <a:ext cx="2743200" cy="411480"/>
          </a:xfrm>
          <a:prstGeom prst="rect">
            <a:avLst/>
          </a:prstGeom>
          <a:noFill/>
          <a:ln/>
        </p:spPr>
        <p:txBody>
          <a:bodyPr wrap="square" lIns="0" tIns="0" rIns="0" bIns="0" rtlCol="0" anchor="ctr"/>
          <a:lstStyle/>
          <a:p>
            <a:pPr indent="0" marL="0">
              <a:buNone/>
            </a:pPr>
            <a:r>
              <a:rPr lang="en-US" sz="2200" b="1" dirty="0">
                <a:solidFill>
                  <a:srgbClr val="042047"/>
                </a:solidFill>
                <a:latin typeface="Cambria" pitchFamily="34" charset="0"/>
                <a:ea typeface="Cambria" pitchFamily="34" charset="-122"/>
                <a:cs typeface="Cambria" pitchFamily="34" charset="-120"/>
              </a:rPr>
              <a:t>In Scope</a:t>
            </a:r>
            <a:endParaRPr lang="en-US" sz="2200" dirty="0"/>
          </a:p>
        </p:txBody>
      </p:sp>
      <p:sp>
        <p:nvSpPr>
          <p:cNvPr id="6" name="Text 4"/>
          <p:cNvSpPr/>
          <p:nvPr/>
        </p:nvSpPr>
        <p:spPr>
          <a:xfrm>
            <a:off x="960120" y="2560320"/>
            <a:ext cx="585216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Online appointment booking form</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Doctors listing with search and profile pages</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Patient registration form</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Admin dashboard with stats and recent bookings</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Login, Signup and protected pages</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Fully responsive on mobile, tablet and desktop</a:t>
            </a:r>
            <a:endParaRPr lang="en-US" sz="1400" dirty="0"/>
          </a:p>
        </p:txBody>
      </p:sp>
      <p:sp>
        <p:nvSpPr>
          <p:cNvPr id="7" name="Shape 5"/>
          <p:cNvSpPr/>
          <p:nvPr/>
        </p:nvSpPr>
        <p:spPr>
          <a:xfrm>
            <a:off x="7543800" y="1783080"/>
            <a:ext cx="4023360" cy="4114800"/>
          </a:xfrm>
          <a:prstGeom prst="roundRect">
            <a:avLst>
              <a:gd name="adj" fmla="val 272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8" name="Text 6"/>
          <p:cNvSpPr/>
          <p:nvPr/>
        </p:nvSpPr>
        <p:spPr>
          <a:xfrm>
            <a:off x="7863840" y="2011680"/>
            <a:ext cx="3200400" cy="411480"/>
          </a:xfrm>
          <a:prstGeom prst="rect">
            <a:avLst/>
          </a:prstGeom>
          <a:noFill/>
          <a:ln/>
        </p:spPr>
        <p:txBody>
          <a:bodyPr wrap="square" lIns="0" tIns="0" rIns="0" bIns="0" rtlCol="0" anchor="ctr"/>
          <a:lstStyle/>
          <a:p>
            <a:pPr indent="0" marL="0">
              <a:buNone/>
            </a:pPr>
            <a:r>
              <a:rPr lang="en-US" sz="2200" b="1" dirty="0">
                <a:solidFill>
                  <a:srgbClr val="042047"/>
                </a:solidFill>
                <a:latin typeface="Cambria" pitchFamily="34" charset="0"/>
                <a:ea typeface="Cambria" pitchFamily="34" charset="-122"/>
                <a:cs typeface="Cambria" pitchFamily="34" charset="-120"/>
              </a:rPr>
              <a:t>Out of Scope</a:t>
            </a:r>
            <a:endParaRPr lang="en-US" sz="2200" dirty="0"/>
          </a:p>
        </p:txBody>
      </p:sp>
      <p:sp>
        <p:nvSpPr>
          <p:cNvPr id="9" name="Text 7"/>
          <p:cNvSpPr/>
          <p:nvPr/>
        </p:nvSpPr>
        <p:spPr>
          <a:xfrm>
            <a:off x="7863840" y="2560320"/>
            <a:ext cx="338328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Online payment gateway</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Real database storage</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SMS and email reminders</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Doctor login panel</a:t>
            </a:r>
            <a:endParaRPr lang="en-US" sz="1400" dirty="0"/>
          </a:p>
        </p:txBody>
      </p:sp>
      <p:sp>
        <p:nvSpPr>
          <p:cNvPr id="10" name="Text 8"/>
          <p:cNvSpPr/>
          <p:nvPr/>
        </p:nvSpPr>
        <p:spPr>
          <a:xfrm>
            <a:off x="7863840" y="5120640"/>
            <a:ext cx="3383280" cy="365760"/>
          </a:xfrm>
          <a:prstGeom prst="rect">
            <a:avLst/>
          </a:prstGeom>
          <a:noFill/>
          <a:ln/>
        </p:spPr>
        <p:txBody>
          <a:bodyPr wrap="square" lIns="0" tIns="0" rIns="0" bIns="0" rtlCol="0" anchor="ctr"/>
          <a:lstStyle/>
          <a:p>
            <a:pPr indent="0" marL="0">
              <a:buNone/>
            </a:pPr>
            <a:r>
              <a:rPr lang="en-US" sz="1200" i="1" dirty="0">
                <a:solidFill>
                  <a:srgbClr val="0D6EFD"/>
                </a:solidFill>
                <a:latin typeface="Calibri" pitchFamily="34" charset="0"/>
                <a:ea typeface="Calibri" pitchFamily="34" charset="-122"/>
                <a:cs typeface="Calibri" pitchFamily="34" charset="-120"/>
              </a:rPr>
              <a:t>These are planned for the next phase.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Software Development Life Cycle</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The seven phases every software project goes through</a:t>
            </a:r>
            <a:endParaRPr lang="en-US" sz="1500" dirty="0"/>
          </a:p>
        </p:txBody>
      </p:sp>
      <p:sp>
        <p:nvSpPr>
          <p:cNvPr id="4" name="Shape 2"/>
          <p:cNvSpPr/>
          <p:nvPr/>
        </p:nvSpPr>
        <p:spPr>
          <a:xfrm>
            <a:off x="640080" y="1737360"/>
            <a:ext cx="2487168" cy="1600200"/>
          </a:xfrm>
          <a:prstGeom prst="roundRect">
            <a:avLst>
              <a:gd name="adj" fmla="val 685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Shape 3"/>
          <p:cNvSpPr/>
          <p:nvPr/>
        </p:nvSpPr>
        <p:spPr>
          <a:xfrm>
            <a:off x="896112" y="1993392"/>
            <a:ext cx="502920" cy="502920"/>
          </a:xfrm>
          <a:prstGeom prst="ellipse">
            <a:avLst/>
          </a:prstGeom>
          <a:solidFill>
            <a:srgbClr val="0D6EFD"/>
          </a:solidFill>
          <a:ln/>
        </p:spPr>
      </p:sp>
      <p:sp>
        <p:nvSpPr>
          <p:cNvPr id="6" name="Text 4"/>
          <p:cNvSpPr/>
          <p:nvPr/>
        </p:nvSpPr>
        <p:spPr>
          <a:xfrm>
            <a:off x="896112" y="19933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08760" y="202996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Planning</a:t>
            </a:r>
            <a:endParaRPr lang="en-US" sz="1500" dirty="0"/>
          </a:p>
        </p:txBody>
      </p:sp>
      <p:sp>
        <p:nvSpPr>
          <p:cNvPr id="8" name="Text 6"/>
          <p:cNvSpPr/>
          <p:nvPr/>
        </p:nvSpPr>
        <p:spPr>
          <a:xfrm>
            <a:off x="896112" y="263347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Decide idea, team and timeline</a:t>
            </a:r>
            <a:endParaRPr lang="en-US" sz="1150" dirty="0"/>
          </a:p>
        </p:txBody>
      </p:sp>
      <p:sp>
        <p:nvSpPr>
          <p:cNvPr id="9" name="Shape 7"/>
          <p:cNvSpPr/>
          <p:nvPr/>
        </p:nvSpPr>
        <p:spPr>
          <a:xfrm>
            <a:off x="3447288" y="1737360"/>
            <a:ext cx="2487168" cy="1600200"/>
          </a:xfrm>
          <a:prstGeom prst="roundRect">
            <a:avLst>
              <a:gd name="adj" fmla="val 685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0" name="Shape 8"/>
          <p:cNvSpPr/>
          <p:nvPr/>
        </p:nvSpPr>
        <p:spPr>
          <a:xfrm>
            <a:off x="3703320" y="1993392"/>
            <a:ext cx="502920" cy="502920"/>
          </a:xfrm>
          <a:prstGeom prst="ellipse">
            <a:avLst/>
          </a:prstGeom>
          <a:solidFill>
            <a:srgbClr val="0D6EFD"/>
          </a:solidFill>
          <a:ln/>
        </p:spPr>
      </p:sp>
      <p:sp>
        <p:nvSpPr>
          <p:cNvPr id="11" name="Text 9"/>
          <p:cNvSpPr/>
          <p:nvPr/>
        </p:nvSpPr>
        <p:spPr>
          <a:xfrm>
            <a:off x="3703320" y="19933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315968" y="202996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Requirements</a:t>
            </a:r>
            <a:endParaRPr lang="en-US" sz="1500" dirty="0"/>
          </a:p>
        </p:txBody>
      </p:sp>
      <p:sp>
        <p:nvSpPr>
          <p:cNvPr id="13" name="Text 11"/>
          <p:cNvSpPr/>
          <p:nvPr/>
        </p:nvSpPr>
        <p:spPr>
          <a:xfrm>
            <a:off x="3703320" y="263347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List what the system must do</a:t>
            </a:r>
            <a:endParaRPr lang="en-US" sz="1150" dirty="0"/>
          </a:p>
        </p:txBody>
      </p:sp>
      <p:sp>
        <p:nvSpPr>
          <p:cNvPr id="14" name="Shape 12"/>
          <p:cNvSpPr/>
          <p:nvPr/>
        </p:nvSpPr>
        <p:spPr>
          <a:xfrm>
            <a:off x="6254496" y="1737360"/>
            <a:ext cx="2487168" cy="1600200"/>
          </a:xfrm>
          <a:prstGeom prst="roundRect">
            <a:avLst>
              <a:gd name="adj" fmla="val 685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5" name="Shape 13"/>
          <p:cNvSpPr/>
          <p:nvPr/>
        </p:nvSpPr>
        <p:spPr>
          <a:xfrm>
            <a:off x="6510528" y="1993392"/>
            <a:ext cx="502920" cy="502920"/>
          </a:xfrm>
          <a:prstGeom prst="ellipse">
            <a:avLst/>
          </a:prstGeom>
          <a:solidFill>
            <a:srgbClr val="0D6EFD"/>
          </a:solidFill>
          <a:ln/>
        </p:spPr>
      </p:sp>
      <p:sp>
        <p:nvSpPr>
          <p:cNvPr id="16" name="Text 14"/>
          <p:cNvSpPr/>
          <p:nvPr/>
        </p:nvSpPr>
        <p:spPr>
          <a:xfrm>
            <a:off x="6510528" y="19933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7123176" y="202996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Design</a:t>
            </a:r>
            <a:endParaRPr lang="en-US" sz="1500" dirty="0"/>
          </a:p>
        </p:txBody>
      </p:sp>
      <p:sp>
        <p:nvSpPr>
          <p:cNvPr id="18" name="Text 16"/>
          <p:cNvSpPr/>
          <p:nvPr/>
        </p:nvSpPr>
        <p:spPr>
          <a:xfrm>
            <a:off x="6510528" y="263347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Wireframes and component structure</a:t>
            </a:r>
            <a:endParaRPr lang="en-US" sz="1150" dirty="0"/>
          </a:p>
        </p:txBody>
      </p:sp>
      <p:sp>
        <p:nvSpPr>
          <p:cNvPr id="19" name="Shape 17"/>
          <p:cNvSpPr/>
          <p:nvPr/>
        </p:nvSpPr>
        <p:spPr>
          <a:xfrm>
            <a:off x="9061704" y="1737360"/>
            <a:ext cx="2487168" cy="1600200"/>
          </a:xfrm>
          <a:prstGeom prst="roundRect">
            <a:avLst>
              <a:gd name="adj" fmla="val 685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20" name="Shape 18"/>
          <p:cNvSpPr/>
          <p:nvPr/>
        </p:nvSpPr>
        <p:spPr>
          <a:xfrm>
            <a:off x="9317736" y="1993392"/>
            <a:ext cx="502920" cy="502920"/>
          </a:xfrm>
          <a:prstGeom prst="ellipse">
            <a:avLst/>
          </a:prstGeom>
          <a:solidFill>
            <a:srgbClr val="0D6EFD"/>
          </a:solidFill>
          <a:ln/>
        </p:spPr>
      </p:sp>
      <p:sp>
        <p:nvSpPr>
          <p:cNvPr id="21" name="Text 19"/>
          <p:cNvSpPr/>
          <p:nvPr/>
        </p:nvSpPr>
        <p:spPr>
          <a:xfrm>
            <a:off x="9317736" y="19933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930384" y="202996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Coding</a:t>
            </a:r>
            <a:endParaRPr lang="en-US" sz="1500" dirty="0"/>
          </a:p>
        </p:txBody>
      </p:sp>
      <p:sp>
        <p:nvSpPr>
          <p:cNvPr id="23" name="Text 21"/>
          <p:cNvSpPr/>
          <p:nvPr/>
        </p:nvSpPr>
        <p:spPr>
          <a:xfrm>
            <a:off x="9317736" y="263347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Actual development of the pages</a:t>
            </a:r>
            <a:endParaRPr lang="en-US" sz="1150" dirty="0"/>
          </a:p>
        </p:txBody>
      </p:sp>
      <p:sp>
        <p:nvSpPr>
          <p:cNvPr id="24" name="Shape 22"/>
          <p:cNvSpPr/>
          <p:nvPr/>
        </p:nvSpPr>
        <p:spPr>
          <a:xfrm>
            <a:off x="2043684" y="3611880"/>
            <a:ext cx="2487168" cy="1600200"/>
          </a:xfrm>
          <a:prstGeom prst="roundRect">
            <a:avLst>
              <a:gd name="adj" fmla="val 685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25" name="Shape 23"/>
          <p:cNvSpPr/>
          <p:nvPr/>
        </p:nvSpPr>
        <p:spPr>
          <a:xfrm>
            <a:off x="2299716" y="3867912"/>
            <a:ext cx="502920" cy="502920"/>
          </a:xfrm>
          <a:prstGeom prst="ellipse">
            <a:avLst/>
          </a:prstGeom>
          <a:solidFill>
            <a:srgbClr val="0D6EFD"/>
          </a:solidFill>
          <a:ln/>
        </p:spPr>
      </p:sp>
      <p:sp>
        <p:nvSpPr>
          <p:cNvPr id="26" name="Text 24"/>
          <p:cNvSpPr/>
          <p:nvPr/>
        </p:nvSpPr>
        <p:spPr>
          <a:xfrm>
            <a:off x="2299716" y="38679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2912364" y="390448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Testing</a:t>
            </a:r>
            <a:endParaRPr lang="en-US" sz="1500" dirty="0"/>
          </a:p>
        </p:txBody>
      </p:sp>
      <p:sp>
        <p:nvSpPr>
          <p:cNvPr id="28" name="Text 26"/>
          <p:cNvSpPr/>
          <p:nvPr/>
        </p:nvSpPr>
        <p:spPr>
          <a:xfrm>
            <a:off x="2299716" y="450799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Check bugs and responsiveness</a:t>
            </a:r>
            <a:endParaRPr lang="en-US" sz="1150" dirty="0"/>
          </a:p>
        </p:txBody>
      </p:sp>
      <p:sp>
        <p:nvSpPr>
          <p:cNvPr id="29" name="Shape 27"/>
          <p:cNvSpPr/>
          <p:nvPr/>
        </p:nvSpPr>
        <p:spPr>
          <a:xfrm>
            <a:off x="4850892" y="3611880"/>
            <a:ext cx="2487168" cy="1600200"/>
          </a:xfrm>
          <a:prstGeom prst="roundRect">
            <a:avLst>
              <a:gd name="adj" fmla="val 685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30" name="Shape 28"/>
          <p:cNvSpPr/>
          <p:nvPr/>
        </p:nvSpPr>
        <p:spPr>
          <a:xfrm>
            <a:off x="5106924" y="3867912"/>
            <a:ext cx="502920" cy="502920"/>
          </a:xfrm>
          <a:prstGeom prst="ellipse">
            <a:avLst/>
          </a:prstGeom>
          <a:solidFill>
            <a:srgbClr val="0D6EFD"/>
          </a:solidFill>
          <a:ln/>
        </p:spPr>
      </p:sp>
      <p:sp>
        <p:nvSpPr>
          <p:cNvPr id="31" name="Text 29"/>
          <p:cNvSpPr/>
          <p:nvPr/>
        </p:nvSpPr>
        <p:spPr>
          <a:xfrm>
            <a:off x="5106924" y="38679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5719572" y="390448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Deployment</a:t>
            </a:r>
            <a:endParaRPr lang="en-US" sz="1500" dirty="0"/>
          </a:p>
        </p:txBody>
      </p:sp>
      <p:sp>
        <p:nvSpPr>
          <p:cNvPr id="33" name="Text 31"/>
          <p:cNvSpPr/>
          <p:nvPr/>
        </p:nvSpPr>
        <p:spPr>
          <a:xfrm>
            <a:off x="5106924" y="450799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Host the site on live server</a:t>
            </a:r>
            <a:endParaRPr lang="en-US" sz="1150" dirty="0"/>
          </a:p>
        </p:txBody>
      </p:sp>
      <p:sp>
        <p:nvSpPr>
          <p:cNvPr id="34" name="Shape 32"/>
          <p:cNvSpPr/>
          <p:nvPr/>
        </p:nvSpPr>
        <p:spPr>
          <a:xfrm>
            <a:off x="7658100" y="3611880"/>
            <a:ext cx="2487168" cy="1600200"/>
          </a:xfrm>
          <a:prstGeom prst="roundRect">
            <a:avLst>
              <a:gd name="adj" fmla="val 685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35" name="Shape 33"/>
          <p:cNvSpPr/>
          <p:nvPr/>
        </p:nvSpPr>
        <p:spPr>
          <a:xfrm>
            <a:off x="7914132" y="3867912"/>
            <a:ext cx="502920" cy="502920"/>
          </a:xfrm>
          <a:prstGeom prst="ellipse">
            <a:avLst/>
          </a:prstGeom>
          <a:solidFill>
            <a:srgbClr val="0D6EFD"/>
          </a:solidFill>
          <a:ln/>
        </p:spPr>
      </p:sp>
      <p:sp>
        <p:nvSpPr>
          <p:cNvPr id="36" name="Text 34"/>
          <p:cNvSpPr/>
          <p:nvPr/>
        </p:nvSpPr>
        <p:spPr>
          <a:xfrm>
            <a:off x="7914132" y="38679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7" name="Text 35"/>
          <p:cNvSpPr/>
          <p:nvPr/>
        </p:nvSpPr>
        <p:spPr>
          <a:xfrm>
            <a:off x="8526780" y="3904488"/>
            <a:ext cx="1389888" cy="41148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Maintenance</a:t>
            </a:r>
            <a:endParaRPr lang="en-US" sz="1500" dirty="0"/>
          </a:p>
        </p:txBody>
      </p:sp>
      <p:sp>
        <p:nvSpPr>
          <p:cNvPr id="38" name="Text 36"/>
          <p:cNvSpPr/>
          <p:nvPr/>
        </p:nvSpPr>
        <p:spPr>
          <a:xfrm>
            <a:off x="7914132" y="4507992"/>
            <a:ext cx="1975104" cy="548640"/>
          </a:xfrm>
          <a:prstGeom prst="rect">
            <a:avLst/>
          </a:prstGeom>
          <a:noFill/>
          <a:ln/>
        </p:spPr>
        <p:txBody>
          <a:bodyPr wrap="square" lIns="0" tIns="0" rIns="0" bIns="0" rtlCol="0" anchor="t"/>
          <a:lstStyle/>
          <a:p>
            <a:pPr indent="0" marL="0">
              <a:buNone/>
            </a:pPr>
            <a:r>
              <a:rPr lang="en-US" sz="1150" dirty="0">
                <a:solidFill>
                  <a:srgbClr val="585858"/>
                </a:solidFill>
                <a:latin typeface="Calibri" pitchFamily="34" charset="0"/>
                <a:ea typeface="Calibri" pitchFamily="34" charset="-122"/>
                <a:cs typeface="Calibri" pitchFamily="34" charset="-120"/>
              </a:rPr>
              <a:t>Fix issues and add new features</a:t>
            </a:r>
            <a:endParaRPr lang="en-US" sz="1150" dirty="0"/>
          </a:p>
        </p:txBody>
      </p:sp>
      <p:sp>
        <p:nvSpPr>
          <p:cNvPr id="39" name="Text 37"/>
          <p:cNvSpPr/>
          <p:nvPr/>
        </p:nvSpPr>
        <p:spPr>
          <a:xfrm>
            <a:off x="640080" y="5532120"/>
            <a:ext cx="10908792" cy="365760"/>
          </a:xfrm>
          <a:prstGeom prst="rect">
            <a:avLst/>
          </a:prstGeom>
          <a:noFill/>
          <a:ln/>
        </p:spPr>
        <p:txBody>
          <a:bodyPr wrap="square" lIns="0" tIns="0" rIns="0" bIns="0" rtlCol="0" anchor="ctr"/>
          <a:lstStyle/>
          <a:p>
            <a:pPr algn="ctr" indent="0" marL="0">
              <a:buNone/>
            </a:pPr>
            <a:r>
              <a:rPr lang="en-US" sz="1500" i="1" dirty="0">
                <a:solidFill>
                  <a:srgbClr val="0D6EFD"/>
                </a:solidFill>
                <a:latin typeface="Calibri" pitchFamily="34" charset="0"/>
                <a:ea typeface="Calibri" pitchFamily="34" charset="-122"/>
                <a:cs typeface="Calibri" pitchFamily="34" charset="-120"/>
              </a:rPr>
              <a:t>We followed these same phases, but in an Agile way instead of one straight 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2047"/>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Agile Methodology</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9BB4D4"/>
                </a:solidFill>
                <a:latin typeface="Calibri" pitchFamily="34" charset="0"/>
                <a:ea typeface="Calibri" pitchFamily="34" charset="-122"/>
                <a:cs typeface="Calibri" pitchFamily="34" charset="-120"/>
              </a:rPr>
              <a:t>Build in small parts, get feedback, improve</a:t>
            </a:r>
            <a:endParaRPr lang="en-US" sz="1500" dirty="0"/>
          </a:p>
        </p:txBody>
      </p:sp>
      <p:sp>
        <p:nvSpPr>
          <p:cNvPr id="4" name="Shape 2"/>
          <p:cNvSpPr/>
          <p:nvPr/>
        </p:nvSpPr>
        <p:spPr>
          <a:xfrm>
            <a:off x="676656" y="1920240"/>
            <a:ext cx="2331720" cy="1828800"/>
          </a:xfrm>
          <a:prstGeom prst="roundRect">
            <a:avLst>
              <a:gd name="adj" fmla="val 6000"/>
            </a:avLst>
          </a:prstGeom>
          <a:solidFill>
            <a:srgbClr val="0A305F"/>
          </a:solidFill>
          <a:ln w="12700">
            <a:solidFill>
              <a:srgbClr val="0D6EFD"/>
            </a:solidFill>
            <a:prstDash val="solid"/>
          </a:ln>
        </p:spPr>
      </p:sp>
      <p:sp>
        <p:nvSpPr>
          <p:cNvPr id="5" name="Text 3"/>
          <p:cNvSpPr/>
          <p:nvPr/>
        </p:nvSpPr>
        <p:spPr>
          <a:xfrm>
            <a:off x="676656" y="2148840"/>
            <a:ext cx="23317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Plan</a:t>
            </a:r>
            <a:endParaRPr lang="en-US" sz="2200" dirty="0"/>
          </a:p>
        </p:txBody>
      </p:sp>
      <p:sp>
        <p:nvSpPr>
          <p:cNvPr id="6" name="Text 4"/>
          <p:cNvSpPr/>
          <p:nvPr/>
        </p:nvSpPr>
        <p:spPr>
          <a:xfrm>
            <a:off x="813816" y="2606040"/>
            <a:ext cx="2057400" cy="822960"/>
          </a:xfrm>
          <a:prstGeom prst="rect">
            <a:avLst/>
          </a:prstGeom>
          <a:noFill/>
          <a:ln/>
        </p:spPr>
        <p:txBody>
          <a:bodyPr wrap="square" lIns="0" tIns="0" rIns="0" bIns="0" rtlCol="0" anchor="ctr"/>
          <a:lstStyle/>
          <a:p>
            <a:pPr algn="ctr" indent="0" marL="0">
              <a:buNone/>
            </a:pPr>
            <a:r>
              <a:rPr lang="en-US" sz="1200" dirty="0">
                <a:solidFill>
                  <a:srgbClr val="9BB4D4"/>
                </a:solidFill>
                <a:latin typeface="Calibri" pitchFamily="34" charset="0"/>
                <a:ea typeface="Calibri" pitchFamily="34" charset="-122"/>
                <a:cs typeface="Calibri" pitchFamily="34" charset="-120"/>
              </a:rPr>
              <a:t>Pick features</a:t>
            </a:r>
            <a:endParaRPr lang="en-US" sz="1200" dirty="0"/>
          </a:p>
          <a:p>
            <a:pPr algn="ctr" indent="0" marL="0">
              <a:buNone/>
            </a:pPr>
            <a:r>
              <a:rPr lang="en-US" sz="1200" dirty="0">
                <a:solidFill>
                  <a:srgbClr val="9BB4D4"/>
                </a:solidFill>
                <a:latin typeface="Calibri" pitchFamily="34" charset="0"/>
                <a:ea typeface="Calibri" pitchFamily="34" charset="-122"/>
                <a:cs typeface="Calibri" pitchFamily="34" charset="-120"/>
              </a:rPr>
              <a:t>for this sprint</a:t>
            </a:r>
            <a:endParaRPr lang="en-US" sz="1200" dirty="0"/>
          </a:p>
        </p:txBody>
      </p:sp>
      <p:sp>
        <p:nvSpPr>
          <p:cNvPr id="7" name="Text 5"/>
          <p:cNvSpPr/>
          <p:nvPr/>
        </p:nvSpPr>
        <p:spPr>
          <a:xfrm>
            <a:off x="3008376" y="2423160"/>
            <a:ext cx="502920" cy="54864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3511296" y="1920240"/>
            <a:ext cx="2331720" cy="1828800"/>
          </a:xfrm>
          <a:prstGeom prst="roundRect">
            <a:avLst>
              <a:gd name="adj" fmla="val 6000"/>
            </a:avLst>
          </a:prstGeom>
          <a:solidFill>
            <a:srgbClr val="0A305F"/>
          </a:solidFill>
          <a:ln w="12700">
            <a:solidFill>
              <a:srgbClr val="0D6EFD"/>
            </a:solidFill>
            <a:prstDash val="solid"/>
          </a:ln>
        </p:spPr>
      </p:sp>
      <p:sp>
        <p:nvSpPr>
          <p:cNvPr id="9" name="Text 7"/>
          <p:cNvSpPr/>
          <p:nvPr/>
        </p:nvSpPr>
        <p:spPr>
          <a:xfrm>
            <a:off x="3511296" y="2148840"/>
            <a:ext cx="23317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Build</a:t>
            </a:r>
            <a:endParaRPr lang="en-US" sz="2200" dirty="0"/>
          </a:p>
        </p:txBody>
      </p:sp>
      <p:sp>
        <p:nvSpPr>
          <p:cNvPr id="10" name="Text 8"/>
          <p:cNvSpPr/>
          <p:nvPr/>
        </p:nvSpPr>
        <p:spPr>
          <a:xfrm>
            <a:off x="3648456" y="2606040"/>
            <a:ext cx="2057400" cy="822960"/>
          </a:xfrm>
          <a:prstGeom prst="rect">
            <a:avLst/>
          </a:prstGeom>
          <a:noFill/>
          <a:ln/>
        </p:spPr>
        <p:txBody>
          <a:bodyPr wrap="square" lIns="0" tIns="0" rIns="0" bIns="0" rtlCol="0" anchor="ctr"/>
          <a:lstStyle/>
          <a:p>
            <a:pPr algn="ctr" indent="0" marL="0">
              <a:buNone/>
            </a:pPr>
            <a:r>
              <a:rPr lang="en-US" sz="1200" dirty="0">
                <a:solidFill>
                  <a:srgbClr val="9BB4D4"/>
                </a:solidFill>
                <a:latin typeface="Calibri" pitchFamily="34" charset="0"/>
                <a:ea typeface="Calibri" pitchFamily="34" charset="-122"/>
                <a:cs typeface="Calibri" pitchFamily="34" charset="-120"/>
              </a:rPr>
              <a:t>Write the code</a:t>
            </a:r>
            <a:endParaRPr lang="en-US" sz="1200" dirty="0"/>
          </a:p>
          <a:p>
            <a:pPr algn="ctr" indent="0" marL="0">
              <a:buNone/>
            </a:pPr>
            <a:r>
              <a:rPr lang="en-US" sz="1200" dirty="0">
                <a:solidFill>
                  <a:srgbClr val="9BB4D4"/>
                </a:solidFill>
                <a:latin typeface="Calibri" pitchFamily="34" charset="0"/>
                <a:ea typeface="Calibri" pitchFamily="34" charset="-122"/>
                <a:cs typeface="Calibri" pitchFamily="34" charset="-120"/>
              </a:rPr>
              <a:t>for those pages</a:t>
            </a:r>
            <a:endParaRPr lang="en-US" sz="1200" dirty="0"/>
          </a:p>
        </p:txBody>
      </p:sp>
      <p:sp>
        <p:nvSpPr>
          <p:cNvPr id="11" name="Text 9"/>
          <p:cNvSpPr/>
          <p:nvPr/>
        </p:nvSpPr>
        <p:spPr>
          <a:xfrm>
            <a:off x="5843016" y="2423160"/>
            <a:ext cx="502920" cy="54864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6345936" y="1920240"/>
            <a:ext cx="2331720" cy="1828800"/>
          </a:xfrm>
          <a:prstGeom prst="roundRect">
            <a:avLst>
              <a:gd name="adj" fmla="val 6000"/>
            </a:avLst>
          </a:prstGeom>
          <a:solidFill>
            <a:srgbClr val="0A305F"/>
          </a:solidFill>
          <a:ln w="12700">
            <a:solidFill>
              <a:srgbClr val="0D6EFD"/>
            </a:solidFill>
            <a:prstDash val="solid"/>
          </a:ln>
        </p:spPr>
      </p:sp>
      <p:sp>
        <p:nvSpPr>
          <p:cNvPr id="13" name="Text 11"/>
          <p:cNvSpPr/>
          <p:nvPr/>
        </p:nvSpPr>
        <p:spPr>
          <a:xfrm>
            <a:off x="6345936" y="2148840"/>
            <a:ext cx="23317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Test</a:t>
            </a:r>
            <a:endParaRPr lang="en-US" sz="2200" dirty="0"/>
          </a:p>
        </p:txBody>
      </p:sp>
      <p:sp>
        <p:nvSpPr>
          <p:cNvPr id="14" name="Text 12"/>
          <p:cNvSpPr/>
          <p:nvPr/>
        </p:nvSpPr>
        <p:spPr>
          <a:xfrm>
            <a:off x="6483096" y="2606040"/>
            <a:ext cx="2057400" cy="822960"/>
          </a:xfrm>
          <a:prstGeom prst="rect">
            <a:avLst/>
          </a:prstGeom>
          <a:noFill/>
          <a:ln/>
        </p:spPr>
        <p:txBody>
          <a:bodyPr wrap="square" lIns="0" tIns="0" rIns="0" bIns="0" rtlCol="0" anchor="ctr"/>
          <a:lstStyle/>
          <a:p>
            <a:pPr algn="ctr" indent="0" marL="0">
              <a:buNone/>
            </a:pPr>
            <a:r>
              <a:rPr lang="en-US" sz="1200" dirty="0">
                <a:solidFill>
                  <a:srgbClr val="9BB4D4"/>
                </a:solidFill>
                <a:latin typeface="Calibri" pitchFamily="34" charset="0"/>
                <a:ea typeface="Calibri" pitchFamily="34" charset="-122"/>
                <a:cs typeface="Calibri" pitchFamily="34" charset="-120"/>
              </a:rPr>
              <a:t>Check working</a:t>
            </a:r>
            <a:endParaRPr lang="en-US" sz="1200" dirty="0"/>
          </a:p>
          <a:p>
            <a:pPr algn="ctr" indent="0" marL="0">
              <a:buNone/>
            </a:pPr>
            <a:r>
              <a:rPr lang="en-US" sz="1200" dirty="0">
                <a:solidFill>
                  <a:srgbClr val="9BB4D4"/>
                </a:solidFill>
                <a:latin typeface="Calibri" pitchFamily="34" charset="0"/>
                <a:ea typeface="Calibri" pitchFamily="34" charset="-122"/>
                <a:cs typeface="Calibri" pitchFamily="34" charset="-120"/>
              </a:rPr>
              <a:t>and look</a:t>
            </a:r>
            <a:endParaRPr lang="en-US" sz="1200" dirty="0"/>
          </a:p>
        </p:txBody>
      </p:sp>
      <p:sp>
        <p:nvSpPr>
          <p:cNvPr id="15" name="Text 13"/>
          <p:cNvSpPr/>
          <p:nvPr/>
        </p:nvSpPr>
        <p:spPr>
          <a:xfrm>
            <a:off x="8677656" y="2423160"/>
            <a:ext cx="502920" cy="54864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16" name="Shape 14"/>
          <p:cNvSpPr/>
          <p:nvPr/>
        </p:nvSpPr>
        <p:spPr>
          <a:xfrm>
            <a:off x="9180576" y="1920240"/>
            <a:ext cx="2331720" cy="1828800"/>
          </a:xfrm>
          <a:prstGeom prst="roundRect">
            <a:avLst>
              <a:gd name="adj" fmla="val 6000"/>
            </a:avLst>
          </a:prstGeom>
          <a:solidFill>
            <a:srgbClr val="0A305F"/>
          </a:solidFill>
          <a:ln w="12700">
            <a:solidFill>
              <a:srgbClr val="0D6EFD"/>
            </a:solidFill>
            <a:prstDash val="solid"/>
          </a:ln>
        </p:spPr>
      </p:sp>
      <p:sp>
        <p:nvSpPr>
          <p:cNvPr id="17" name="Text 15"/>
          <p:cNvSpPr/>
          <p:nvPr/>
        </p:nvSpPr>
        <p:spPr>
          <a:xfrm>
            <a:off x="9180576" y="2148840"/>
            <a:ext cx="23317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Review</a:t>
            </a:r>
            <a:endParaRPr lang="en-US" sz="2200" dirty="0"/>
          </a:p>
        </p:txBody>
      </p:sp>
      <p:sp>
        <p:nvSpPr>
          <p:cNvPr id="18" name="Text 16"/>
          <p:cNvSpPr/>
          <p:nvPr/>
        </p:nvSpPr>
        <p:spPr>
          <a:xfrm>
            <a:off x="9317736" y="2606040"/>
            <a:ext cx="2057400" cy="822960"/>
          </a:xfrm>
          <a:prstGeom prst="rect">
            <a:avLst/>
          </a:prstGeom>
          <a:noFill/>
          <a:ln/>
        </p:spPr>
        <p:txBody>
          <a:bodyPr wrap="square" lIns="0" tIns="0" rIns="0" bIns="0" rtlCol="0" anchor="ctr"/>
          <a:lstStyle/>
          <a:p>
            <a:pPr algn="ctr" indent="0" marL="0">
              <a:buNone/>
            </a:pPr>
            <a:r>
              <a:rPr lang="en-US" sz="1200" dirty="0">
                <a:solidFill>
                  <a:srgbClr val="9BB4D4"/>
                </a:solidFill>
                <a:latin typeface="Calibri" pitchFamily="34" charset="0"/>
                <a:ea typeface="Calibri" pitchFamily="34" charset="-122"/>
                <a:cs typeface="Calibri" pitchFamily="34" charset="-120"/>
              </a:rPr>
              <a:t>Show it, take</a:t>
            </a:r>
            <a:endParaRPr lang="en-US" sz="1200" dirty="0"/>
          </a:p>
          <a:p>
            <a:pPr algn="ctr" indent="0" marL="0">
              <a:buNone/>
            </a:pPr>
            <a:r>
              <a:rPr lang="en-US" sz="1200" dirty="0">
                <a:solidFill>
                  <a:srgbClr val="9BB4D4"/>
                </a:solidFill>
                <a:latin typeface="Calibri" pitchFamily="34" charset="0"/>
                <a:ea typeface="Calibri" pitchFamily="34" charset="-122"/>
                <a:cs typeface="Calibri" pitchFamily="34" charset="-120"/>
              </a:rPr>
              <a:t>feedback</a:t>
            </a:r>
            <a:endParaRPr lang="en-US" sz="1200" dirty="0"/>
          </a:p>
        </p:txBody>
      </p:sp>
      <p:sp>
        <p:nvSpPr>
          <p:cNvPr id="19" name="Text 17"/>
          <p:cNvSpPr/>
          <p:nvPr/>
        </p:nvSpPr>
        <p:spPr>
          <a:xfrm>
            <a:off x="676656" y="3886200"/>
            <a:ext cx="10835640" cy="320040"/>
          </a:xfrm>
          <a:prstGeom prst="rect">
            <a:avLst/>
          </a:prstGeom>
          <a:noFill/>
          <a:ln/>
        </p:spPr>
        <p:txBody>
          <a:bodyPr wrap="square" lIns="0" tIns="0" rIns="0" bIns="0" rtlCol="0" anchor="ctr"/>
          <a:lstStyle/>
          <a:p>
            <a:pPr algn="ctr" indent="0" marL="0">
              <a:buNone/>
            </a:pPr>
            <a:r>
              <a:rPr lang="en-US" sz="1300" i="1" dirty="0">
                <a:solidFill>
                  <a:srgbClr val="DCEEFF"/>
                </a:solidFill>
                <a:latin typeface="Calibri" pitchFamily="34" charset="0"/>
                <a:ea typeface="Calibri" pitchFamily="34" charset="-122"/>
                <a:cs typeface="Calibri" pitchFamily="34" charset="-120"/>
              </a:rPr>
              <a:t>repeat every sprint</a:t>
            </a:r>
            <a:endParaRPr lang="en-US" sz="1300" dirty="0"/>
          </a:p>
        </p:txBody>
      </p:sp>
      <p:sp>
        <p:nvSpPr>
          <p:cNvPr id="20" name="Text 18"/>
          <p:cNvSpPr/>
          <p:nvPr/>
        </p:nvSpPr>
        <p:spPr>
          <a:xfrm>
            <a:off x="640080" y="4526280"/>
            <a:ext cx="10908792" cy="1554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DCEEFF"/>
                </a:solidFill>
                <a:latin typeface="Calibri" pitchFamily="34" charset="0"/>
                <a:ea typeface="Calibri" pitchFamily="34" charset="-122"/>
                <a:cs typeface="Calibri" pitchFamily="34" charset="-120"/>
              </a:rPr>
              <a:t>Requirements can change any time without restarting the project</a:t>
            </a:r>
            <a:endParaRPr lang="en-US" sz="1400" dirty="0"/>
          </a:p>
          <a:p>
            <a:pPr marL="342900" indent="-342900">
              <a:spcAft>
                <a:spcPts val="1000"/>
              </a:spcAft>
              <a:buSzPct val="100000"/>
              <a:buChar char="•"/>
            </a:pPr>
            <a:r>
              <a:rPr lang="en-US" sz="1400" dirty="0">
                <a:solidFill>
                  <a:srgbClr val="DCEEFF"/>
                </a:solidFill>
                <a:latin typeface="Calibri" pitchFamily="34" charset="0"/>
                <a:ea typeface="Calibri" pitchFamily="34" charset="-122"/>
                <a:cs typeface="Calibri" pitchFamily="34" charset="-120"/>
              </a:rPr>
              <a:t>Working output is ready after every sprint, not only at the end</a:t>
            </a:r>
            <a:endParaRPr lang="en-US" sz="1400" dirty="0"/>
          </a:p>
          <a:p>
            <a:pPr marL="342900" indent="-342900">
              <a:spcAft>
                <a:spcPts val="1000"/>
              </a:spcAft>
              <a:buSzPct val="100000"/>
              <a:buChar char="•"/>
            </a:pPr>
            <a:r>
              <a:rPr lang="en-US" sz="1400" dirty="0">
                <a:solidFill>
                  <a:srgbClr val="DCEEFF"/>
                </a:solidFill>
                <a:latin typeface="Calibri" pitchFamily="34" charset="0"/>
                <a:ea typeface="Calibri" pitchFamily="34" charset="-122"/>
                <a:cs typeface="Calibri" pitchFamily="34" charset="-120"/>
              </a:rPr>
              <a:t>Bugs are caught early because we test in every cycle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Agile in Our Project</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How our five sprints actually went</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2377440"/>
        </p:xfrm>
        <a:graphic>
          <a:graphicData uri="http://schemas.openxmlformats.org/drawingml/2006/table">
            <a:tbl>
              <a:tblPr/>
              <a:tblGrid>
                <a:gridCol w="1417320"/>
                <a:gridCol w="7223760"/>
                <a:gridCol w="226771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Sprint</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0420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we delivered</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0420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042047"/>
                    </a:solidFill>
                  </a:tcPr>
                </a:tc>
              </a:tr>
              <a:tr h="384048">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Sprint 1</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Static HTML and CSS pages using Bootstrap</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Sprint 2</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Moved everything to React and Vite, made Navbar and Footer components</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Coding</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Sprint 3</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Added routing, Appointment page and Dashboard</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Coding</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Sprint 4</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Login, Signup, Forgot Password and Protected Routes</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Coding</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Sprint 5</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Doctors page, Contact page, search with debouncing, bug fixes</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1300" dirty="0">
                          <a:solidFill>
                            <a:srgbClr val="042047"/>
                          </a:solidFill>
                          <a:latin typeface="Calibri" pitchFamily="34" charset="0"/>
                          <a:ea typeface="Calibri" pitchFamily="34" charset="-122"/>
                          <a:cs typeface="Calibri" pitchFamily="34" charset="-120"/>
                        </a:rPr>
                        <a:t>Testing</a:t>
                      </a:r>
                      <a:endParaRPr lang="en-US" sz="1300" dirty="0">
                        <a:latin typeface="Calibri" charset="0"/>
                        <a:ea typeface="Calibri" charset="0"/>
                        <a:cs typeface="Calibri" charset="0"/>
                      </a:endParaRPr>
                    </a:p>
                  </a:txBody>
                  <a:tcPr marL="76200" marR="76200" marT="76200" marB="76200" anchor="ctr">
                    <a:lnL w="12700" cap="flat" cmpd="sng" algn="ctr">
                      <a:solidFill>
                        <a:srgbClr val="DEE2E6"/>
                      </a:solidFill>
                      <a:prstDash val="solid"/>
                      <a:round/>
                      <a:headEnd type="none" w="med" len="med"/>
                      <a:tailEnd type="none" w="med" len="med"/>
                    </a:lnL>
                    <a:lnR w="12700" cap="flat" cmpd="sng" algn="ctr">
                      <a:solidFill>
                        <a:srgbClr val="DEE2E6"/>
                      </a:solidFill>
                      <a:prstDash val="solid"/>
                      <a:round/>
                      <a:headEnd type="none" w="med" len="med"/>
                      <a:tailEnd type="none" w="med" len="med"/>
                    </a:lnR>
                    <a:lnT w="12700" cap="flat" cmpd="sng" algn="ctr">
                      <a:solidFill>
                        <a:srgbClr val="DEE2E6"/>
                      </a:solidFill>
                      <a:prstDash val="solid"/>
                      <a:round/>
                      <a:headEnd type="none" w="med" len="med"/>
                      <a:tailEnd type="none" w="med" len="med"/>
                    </a:lnT>
                    <a:lnB w="12700" cap="flat" cmpd="sng" algn="ctr">
                      <a:solidFill>
                        <a:srgbClr val="DEE2E6"/>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4526280"/>
            <a:ext cx="10908792" cy="1371600"/>
          </a:xfrm>
          <a:prstGeom prst="roundRect">
            <a:avLst>
              <a:gd name="adj" fmla="val 8000"/>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6" name="Text 3"/>
          <p:cNvSpPr/>
          <p:nvPr/>
        </p:nvSpPr>
        <p:spPr>
          <a:xfrm>
            <a:off x="960120" y="4754880"/>
            <a:ext cx="10268712" cy="914400"/>
          </a:xfrm>
          <a:prstGeom prst="rect">
            <a:avLst/>
          </a:prstGeom>
          <a:noFill/>
          <a:ln/>
        </p:spPr>
        <p:txBody>
          <a:bodyPr wrap="square" lIns="0" tIns="0" rIns="0" bIns="0" rtlCol="0" anchor="ctr"/>
          <a:lstStyle/>
          <a:p>
            <a:pPr indent="0" marL="0">
              <a:buNone/>
            </a:pPr>
            <a:r>
              <a:rPr lang="en-US" sz="1500" b="1" dirty="0">
                <a:solidFill>
                  <a:srgbClr val="042047"/>
                </a:solidFill>
                <a:latin typeface="Calibri" pitchFamily="34" charset="0"/>
                <a:ea typeface="Calibri" pitchFamily="34" charset="-122"/>
                <a:cs typeface="Calibri" pitchFamily="34" charset="-120"/>
              </a:rPr>
              <a:t>The best example: </a:t>
            </a:r>
            <a:pPr indent="0" marL="0">
              <a:buNone/>
            </a:pPr>
            <a:r>
              <a:rPr lang="en-US" sz="1500" dirty="0">
                <a:solidFill>
                  <a:srgbClr val="042047"/>
                </a:solidFill>
                <a:latin typeface="Calibri" pitchFamily="34" charset="0"/>
                <a:ea typeface="Calibri" pitchFamily="34" charset="-122"/>
                <a:cs typeface="Calibri" pitchFamily="34" charset="-120"/>
              </a:rPr>
              <a:t>In the middle of the project we changed from plain HTML to React. In Waterfall we would have to start the whole project again. In Agile we simply took it as the next sprint and continued.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Requirements</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What the system must do, and how well it must do it</a:t>
            </a:r>
            <a:endParaRPr lang="en-US" sz="1500" dirty="0"/>
          </a:p>
        </p:txBody>
      </p:sp>
      <p:sp>
        <p:nvSpPr>
          <p:cNvPr id="4" name="Shape 2"/>
          <p:cNvSpPr/>
          <p:nvPr/>
        </p:nvSpPr>
        <p:spPr>
          <a:xfrm>
            <a:off x="640080" y="1783080"/>
            <a:ext cx="5440680" cy="4114800"/>
          </a:xfrm>
          <a:prstGeom prst="roundRect">
            <a:avLst>
              <a:gd name="adj" fmla="val 266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Shape 3"/>
          <p:cNvSpPr/>
          <p:nvPr/>
        </p:nvSpPr>
        <p:spPr>
          <a:xfrm>
            <a:off x="960120" y="2011680"/>
            <a:ext cx="502920" cy="502920"/>
          </a:xfrm>
          <a:prstGeom prst="ellipse">
            <a:avLst/>
          </a:prstGeom>
          <a:solidFill>
            <a:srgbClr val="0D6EFD"/>
          </a:solidFill>
          <a:ln/>
        </p:spPr>
      </p:sp>
      <p:sp>
        <p:nvSpPr>
          <p:cNvPr id="6" name="Text 4"/>
          <p:cNvSpPr/>
          <p:nvPr/>
        </p:nvSpPr>
        <p:spPr>
          <a:xfrm>
            <a:off x="96012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a:t>
            </a:r>
            <a:endParaRPr lang="en-US" sz="1600" dirty="0"/>
          </a:p>
        </p:txBody>
      </p:sp>
      <p:sp>
        <p:nvSpPr>
          <p:cNvPr id="7" name="Text 5"/>
          <p:cNvSpPr/>
          <p:nvPr/>
        </p:nvSpPr>
        <p:spPr>
          <a:xfrm>
            <a:off x="1600200" y="2048256"/>
            <a:ext cx="3657600" cy="411480"/>
          </a:xfrm>
          <a:prstGeom prst="rect">
            <a:avLst/>
          </a:prstGeom>
          <a:noFill/>
          <a:ln/>
        </p:spPr>
        <p:txBody>
          <a:bodyPr wrap="square" lIns="0" tIns="0" rIns="0" bIns="0" rtlCol="0" anchor="ctr"/>
          <a:lstStyle/>
          <a:p>
            <a:pPr indent="0" marL="0">
              <a:buNone/>
            </a:pPr>
            <a:r>
              <a:rPr lang="en-US" sz="2200" b="1" dirty="0">
                <a:solidFill>
                  <a:srgbClr val="042047"/>
                </a:solidFill>
                <a:latin typeface="Cambria" pitchFamily="34" charset="0"/>
                <a:ea typeface="Cambria" pitchFamily="34" charset="-122"/>
                <a:cs typeface="Cambria" pitchFamily="34" charset="-120"/>
              </a:rPr>
              <a:t>Functional</a:t>
            </a:r>
            <a:endParaRPr lang="en-US" sz="2200" dirty="0"/>
          </a:p>
        </p:txBody>
      </p:sp>
      <p:sp>
        <p:nvSpPr>
          <p:cNvPr id="8" name="Text 6"/>
          <p:cNvSpPr/>
          <p:nvPr/>
        </p:nvSpPr>
        <p:spPr>
          <a:xfrm>
            <a:off x="960120" y="2697480"/>
            <a:ext cx="480060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User can register and login</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User can browse and search doctors</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User can view a single doctor profile</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User can book an appointment</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Admin can see stats on the dashboard</a:t>
            </a:r>
            <a:endParaRPr lang="en-US" sz="1400" dirty="0"/>
          </a:p>
          <a:p>
            <a:pPr marL="342900" indent="-342900">
              <a:spcAft>
                <a:spcPts val="1000"/>
              </a:spcAft>
              <a:buSzPct val="100000"/>
              <a:buChar char="•"/>
            </a:pPr>
            <a:r>
              <a:rPr lang="en-US" sz="1400" dirty="0">
                <a:solidFill>
                  <a:srgbClr val="042047"/>
                </a:solidFill>
                <a:latin typeface="Calibri" pitchFamily="34" charset="0"/>
                <a:ea typeface="Calibri" pitchFamily="34" charset="-122"/>
                <a:cs typeface="Calibri" pitchFamily="34" charset="-120"/>
              </a:rPr>
              <a:t>Only logged in users can open booking pages</a:t>
            </a:r>
            <a:endParaRPr lang="en-US" sz="1400" dirty="0"/>
          </a:p>
        </p:txBody>
      </p:sp>
      <p:sp>
        <p:nvSpPr>
          <p:cNvPr id="9" name="Shape 7"/>
          <p:cNvSpPr/>
          <p:nvPr/>
        </p:nvSpPr>
        <p:spPr>
          <a:xfrm>
            <a:off x="6492240" y="1783080"/>
            <a:ext cx="5074920" cy="4114800"/>
          </a:xfrm>
          <a:prstGeom prst="roundRect">
            <a:avLst>
              <a:gd name="adj" fmla="val 266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0" name="Shape 8"/>
          <p:cNvSpPr/>
          <p:nvPr/>
        </p:nvSpPr>
        <p:spPr>
          <a:xfrm>
            <a:off x="6812280" y="2011680"/>
            <a:ext cx="502920" cy="502920"/>
          </a:xfrm>
          <a:prstGeom prst="ellipse">
            <a:avLst/>
          </a:prstGeom>
          <a:solidFill>
            <a:srgbClr val="042047"/>
          </a:solidFill>
          <a:ln/>
        </p:spPr>
      </p:sp>
      <p:sp>
        <p:nvSpPr>
          <p:cNvPr id="11" name="Text 9"/>
          <p:cNvSpPr/>
          <p:nvPr/>
        </p:nvSpPr>
        <p:spPr>
          <a:xfrm>
            <a:off x="681228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p>
        </p:txBody>
      </p:sp>
      <p:sp>
        <p:nvSpPr>
          <p:cNvPr id="12" name="Text 10"/>
          <p:cNvSpPr/>
          <p:nvPr/>
        </p:nvSpPr>
        <p:spPr>
          <a:xfrm>
            <a:off x="7452360" y="2048256"/>
            <a:ext cx="3840480" cy="411480"/>
          </a:xfrm>
          <a:prstGeom prst="rect">
            <a:avLst/>
          </a:prstGeom>
          <a:noFill/>
          <a:ln/>
        </p:spPr>
        <p:txBody>
          <a:bodyPr wrap="square" lIns="0" tIns="0" rIns="0" bIns="0" rtlCol="0" anchor="ctr"/>
          <a:lstStyle/>
          <a:p>
            <a:pPr indent="0" marL="0">
              <a:buNone/>
            </a:pPr>
            <a:r>
              <a:rPr lang="en-US" sz="2200" b="1" dirty="0">
                <a:solidFill>
                  <a:srgbClr val="042047"/>
                </a:solidFill>
                <a:latin typeface="Cambria" pitchFamily="34" charset="0"/>
                <a:ea typeface="Cambria" pitchFamily="34" charset="-122"/>
                <a:cs typeface="Cambria" pitchFamily="34" charset="-120"/>
              </a:rPr>
              <a:t>Non Functional</a:t>
            </a:r>
            <a:endParaRPr lang="en-US" sz="2200" dirty="0"/>
          </a:p>
        </p:txBody>
      </p:sp>
      <p:sp>
        <p:nvSpPr>
          <p:cNvPr id="13" name="Text 11"/>
          <p:cNvSpPr/>
          <p:nvPr/>
        </p:nvSpPr>
        <p:spPr>
          <a:xfrm>
            <a:off x="6812280" y="2697480"/>
            <a:ext cx="448056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Works on mobile, tablet and desktop</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Page should load fast</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Same look and colours on every page</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Components are reusable</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Simple and easy navigation</a:t>
            </a:r>
            <a:endParaRPr lang="en-US" sz="1400" dirty="0"/>
          </a:p>
          <a:p>
            <a:pPr marL="342900" indent="-342900">
              <a:spcAft>
                <a:spcPts val="1000"/>
              </a:spcAft>
              <a:buSzPct val="100000"/>
              <a:buChar char="•"/>
            </a:pPr>
            <a:r>
              <a:rPr lang="en-US" sz="1400" dirty="0">
                <a:solidFill>
                  <a:srgbClr val="585858"/>
                </a:solidFill>
                <a:latin typeface="Calibri" pitchFamily="34" charset="0"/>
                <a:ea typeface="Calibri" pitchFamily="34" charset="-122"/>
                <a:cs typeface="Calibri" pitchFamily="34" charset="-120"/>
              </a:rPr>
              <a:t>Search should not lag while typing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Design</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Component structure and colour scheme</a:t>
            </a:r>
            <a:endParaRPr lang="en-US" sz="1500" dirty="0"/>
          </a:p>
        </p:txBody>
      </p:sp>
      <p:sp>
        <p:nvSpPr>
          <p:cNvPr id="4" name="Text 2"/>
          <p:cNvSpPr/>
          <p:nvPr/>
        </p:nvSpPr>
        <p:spPr>
          <a:xfrm>
            <a:off x="640080" y="1691640"/>
            <a:ext cx="4572000" cy="365760"/>
          </a:xfrm>
          <a:prstGeom prst="rect">
            <a:avLst/>
          </a:prstGeom>
          <a:noFill/>
          <a:ln/>
        </p:spPr>
        <p:txBody>
          <a:bodyPr wrap="square" lIns="0" tIns="0" rIns="0" bIns="0" rtlCol="0" anchor="ctr"/>
          <a:lstStyle/>
          <a:p>
            <a:pPr indent="0" marL="0">
              <a:buNone/>
            </a:pPr>
            <a:r>
              <a:rPr lang="en-US" sz="2000" b="1" dirty="0">
                <a:solidFill>
                  <a:srgbClr val="042047"/>
                </a:solidFill>
                <a:latin typeface="Cambria" pitchFamily="34" charset="0"/>
                <a:ea typeface="Cambria" pitchFamily="34" charset="-122"/>
                <a:cs typeface="Cambria" pitchFamily="34" charset="-120"/>
              </a:rPr>
              <a:t>Component Tree</a:t>
            </a:r>
            <a:endParaRPr lang="en-US" sz="2000" dirty="0"/>
          </a:p>
        </p:txBody>
      </p:sp>
      <p:sp>
        <p:nvSpPr>
          <p:cNvPr id="5" name="Shape 3"/>
          <p:cNvSpPr/>
          <p:nvPr/>
        </p:nvSpPr>
        <p:spPr>
          <a:xfrm>
            <a:off x="640080" y="2194560"/>
            <a:ext cx="5394960" cy="402336"/>
          </a:xfrm>
          <a:prstGeom prst="roundRect">
            <a:avLst>
              <a:gd name="adj" fmla="val 18182"/>
            </a:avLst>
          </a:prstGeom>
          <a:solidFill>
            <a:srgbClr val="DCEEFF"/>
          </a:solidFill>
          <a:ln w="12700">
            <a:solidFill>
              <a:srgbClr val="DEE2E6"/>
            </a:solidFill>
            <a:prstDash val="solid"/>
          </a:ln>
        </p:spPr>
      </p:sp>
      <p:sp>
        <p:nvSpPr>
          <p:cNvPr id="6" name="Text 4"/>
          <p:cNvSpPr/>
          <p:nvPr/>
        </p:nvSpPr>
        <p:spPr>
          <a:xfrm>
            <a:off x="804672" y="2194560"/>
            <a:ext cx="5029200" cy="402336"/>
          </a:xfrm>
          <a:prstGeom prst="rect">
            <a:avLst/>
          </a:prstGeom>
          <a:noFill/>
          <a:ln/>
        </p:spPr>
        <p:txBody>
          <a:bodyPr wrap="square" lIns="0" tIns="0" rIns="0" bIns="0" rtlCol="0" anchor="ctr"/>
          <a:lstStyle/>
          <a:p>
            <a:pPr indent="0" marL="0">
              <a:buNone/>
            </a:pPr>
            <a:r>
              <a:rPr lang="en-US" sz="1300" b="1" dirty="0">
                <a:solidFill>
                  <a:srgbClr val="0D6EFD"/>
                </a:solidFill>
                <a:latin typeface="Calibri" pitchFamily="34" charset="0"/>
                <a:ea typeface="Calibri" pitchFamily="34" charset="-122"/>
                <a:cs typeface="Calibri" pitchFamily="34" charset="-120"/>
              </a:rPr>
              <a:t>App.jsx</a:t>
            </a:r>
            <a:endParaRPr lang="en-US" sz="1300" dirty="0"/>
          </a:p>
        </p:txBody>
      </p:sp>
      <p:sp>
        <p:nvSpPr>
          <p:cNvPr id="7" name="Shape 5"/>
          <p:cNvSpPr/>
          <p:nvPr/>
        </p:nvSpPr>
        <p:spPr>
          <a:xfrm>
            <a:off x="1143000" y="2743200"/>
            <a:ext cx="4892040" cy="402336"/>
          </a:xfrm>
          <a:prstGeom prst="roundRect">
            <a:avLst>
              <a:gd name="adj" fmla="val 18182"/>
            </a:avLst>
          </a:prstGeom>
          <a:solidFill>
            <a:srgbClr val="FFFFFF"/>
          </a:solidFill>
          <a:ln w="12700">
            <a:solidFill>
              <a:srgbClr val="DEE2E6"/>
            </a:solidFill>
            <a:prstDash val="solid"/>
          </a:ln>
        </p:spPr>
      </p:sp>
      <p:sp>
        <p:nvSpPr>
          <p:cNvPr id="8" name="Text 6"/>
          <p:cNvSpPr/>
          <p:nvPr/>
        </p:nvSpPr>
        <p:spPr>
          <a:xfrm>
            <a:off x="1307592" y="2743200"/>
            <a:ext cx="4526280" cy="402336"/>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Navbar</a:t>
            </a:r>
            <a:endParaRPr lang="en-US" sz="1300" dirty="0"/>
          </a:p>
        </p:txBody>
      </p:sp>
      <p:sp>
        <p:nvSpPr>
          <p:cNvPr id="9" name="Shape 7"/>
          <p:cNvSpPr/>
          <p:nvPr/>
        </p:nvSpPr>
        <p:spPr>
          <a:xfrm>
            <a:off x="1143000" y="3291840"/>
            <a:ext cx="4892040" cy="402336"/>
          </a:xfrm>
          <a:prstGeom prst="roundRect">
            <a:avLst>
              <a:gd name="adj" fmla="val 18182"/>
            </a:avLst>
          </a:prstGeom>
          <a:solidFill>
            <a:srgbClr val="FFFFFF"/>
          </a:solidFill>
          <a:ln w="12700">
            <a:solidFill>
              <a:srgbClr val="DEE2E6"/>
            </a:solidFill>
            <a:prstDash val="solid"/>
          </a:ln>
        </p:spPr>
      </p:sp>
      <p:sp>
        <p:nvSpPr>
          <p:cNvPr id="10" name="Text 8"/>
          <p:cNvSpPr/>
          <p:nvPr/>
        </p:nvSpPr>
        <p:spPr>
          <a:xfrm>
            <a:off x="1307592" y="3291840"/>
            <a:ext cx="4526280" cy="402336"/>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Routes</a:t>
            </a:r>
            <a:endParaRPr lang="en-US" sz="1300" dirty="0"/>
          </a:p>
        </p:txBody>
      </p:sp>
      <p:sp>
        <p:nvSpPr>
          <p:cNvPr id="11" name="Shape 9"/>
          <p:cNvSpPr/>
          <p:nvPr/>
        </p:nvSpPr>
        <p:spPr>
          <a:xfrm>
            <a:off x="1645920" y="3840480"/>
            <a:ext cx="4389120" cy="402336"/>
          </a:xfrm>
          <a:prstGeom prst="roundRect">
            <a:avLst>
              <a:gd name="adj" fmla="val 18182"/>
            </a:avLst>
          </a:prstGeom>
          <a:solidFill>
            <a:srgbClr val="FFFFFF"/>
          </a:solidFill>
          <a:ln w="12700">
            <a:solidFill>
              <a:srgbClr val="DEE2E6"/>
            </a:solidFill>
            <a:prstDash val="solid"/>
          </a:ln>
        </p:spPr>
      </p:sp>
      <p:sp>
        <p:nvSpPr>
          <p:cNvPr id="12" name="Text 10"/>
          <p:cNvSpPr/>
          <p:nvPr/>
        </p:nvSpPr>
        <p:spPr>
          <a:xfrm>
            <a:off x="1810512" y="3840480"/>
            <a:ext cx="4023360" cy="402336"/>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HomePage / Doctors / SingleDoctor</a:t>
            </a:r>
            <a:endParaRPr lang="en-US" sz="1300" dirty="0"/>
          </a:p>
        </p:txBody>
      </p:sp>
      <p:sp>
        <p:nvSpPr>
          <p:cNvPr id="13" name="Shape 11"/>
          <p:cNvSpPr/>
          <p:nvPr/>
        </p:nvSpPr>
        <p:spPr>
          <a:xfrm>
            <a:off x="1645920" y="4389120"/>
            <a:ext cx="4389120" cy="402336"/>
          </a:xfrm>
          <a:prstGeom prst="roundRect">
            <a:avLst>
              <a:gd name="adj" fmla="val 18182"/>
            </a:avLst>
          </a:prstGeom>
          <a:solidFill>
            <a:srgbClr val="FFFFFF"/>
          </a:solidFill>
          <a:ln w="12700">
            <a:solidFill>
              <a:srgbClr val="DEE2E6"/>
            </a:solidFill>
            <a:prstDash val="solid"/>
          </a:ln>
        </p:spPr>
      </p:sp>
      <p:sp>
        <p:nvSpPr>
          <p:cNvPr id="14" name="Text 12"/>
          <p:cNvSpPr/>
          <p:nvPr/>
        </p:nvSpPr>
        <p:spPr>
          <a:xfrm>
            <a:off x="1810512" y="4389120"/>
            <a:ext cx="4023360" cy="402336"/>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Appointment / Dashboard</a:t>
            </a:r>
            <a:endParaRPr lang="en-US" sz="1300" dirty="0"/>
          </a:p>
        </p:txBody>
      </p:sp>
      <p:sp>
        <p:nvSpPr>
          <p:cNvPr id="15" name="Shape 13"/>
          <p:cNvSpPr/>
          <p:nvPr/>
        </p:nvSpPr>
        <p:spPr>
          <a:xfrm>
            <a:off x="1645920" y="4937760"/>
            <a:ext cx="4389120" cy="402336"/>
          </a:xfrm>
          <a:prstGeom prst="roundRect">
            <a:avLst>
              <a:gd name="adj" fmla="val 18182"/>
            </a:avLst>
          </a:prstGeom>
          <a:solidFill>
            <a:srgbClr val="FFFFFF"/>
          </a:solidFill>
          <a:ln w="12700">
            <a:solidFill>
              <a:srgbClr val="DEE2E6"/>
            </a:solidFill>
            <a:prstDash val="solid"/>
          </a:ln>
        </p:spPr>
      </p:sp>
      <p:sp>
        <p:nvSpPr>
          <p:cNvPr id="16" name="Text 14"/>
          <p:cNvSpPr/>
          <p:nvPr/>
        </p:nvSpPr>
        <p:spPr>
          <a:xfrm>
            <a:off x="1810512" y="4937760"/>
            <a:ext cx="4023360" cy="402336"/>
          </a:xfrm>
          <a:prstGeom prst="rect">
            <a:avLst/>
          </a:prstGeom>
          <a:noFill/>
          <a:ln/>
        </p:spPr>
        <p:txBody>
          <a:bodyPr wrap="square" lIns="0" tIns="0" rIns="0" bIns="0" rtlCol="0" anchor="ctr"/>
          <a:lstStyle/>
          <a:p>
            <a:pPr indent="0" marL="0">
              <a:buNone/>
            </a:pPr>
            <a:r>
              <a:rPr lang="en-US" sz="1300" dirty="0">
                <a:solidFill>
                  <a:srgbClr val="585858"/>
                </a:solidFill>
                <a:latin typeface="Calibri" pitchFamily="34" charset="0"/>
                <a:ea typeface="Calibri" pitchFamily="34" charset="-122"/>
                <a:cs typeface="Calibri" pitchFamily="34" charset="-120"/>
              </a:rPr>
              <a:t>Login / Signup / Contact</a:t>
            </a:r>
            <a:endParaRPr lang="en-US" sz="1300" dirty="0"/>
          </a:p>
        </p:txBody>
      </p:sp>
      <p:sp>
        <p:nvSpPr>
          <p:cNvPr id="17" name="Shape 15"/>
          <p:cNvSpPr/>
          <p:nvPr/>
        </p:nvSpPr>
        <p:spPr>
          <a:xfrm>
            <a:off x="1143000" y="5486400"/>
            <a:ext cx="4892040" cy="402336"/>
          </a:xfrm>
          <a:prstGeom prst="roundRect">
            <a:avLst>
              <a:gd name="adj" fmla="val 18182"/>
            </a:avLst>
          </a:prstGeom>
          <a:solidFill>
            <a:srgbClr val="FFFFFF"/>
          </a:solidFill>
          <a:ln w="12700">
            <a:solidFill>
              <a:srgbClr val="DEE2E6"/>
            </a:solidFill>
            <a:prstDash val="solid"/>
          </a:ln>
        </p:spPr>
      </p:sp>
      <p:sp>
        <p:nvSpPr>
          <p:cNvPr id="18" name="Text 16"/>
          <p:cNvSpPr/>
          <p:nvPr/>
        </p:nvSpPr>
        <p:spPr>
          <a:xfrm>
            <a:off x="1307592" y="5486400"/>
            <a:ext cx="4526280" cy="402336"/>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Footer</a:t>
            </a:r>
            <a:endParaRPr lang="en-US" sz="1300" dirty="0"/>
          </a:p>
        </p:txBody>
      </p:sp>
      <p:sp>
        <p:nvSpPr>
          <p:cNvPr id="19" name="Text 17"/>
          <p:cNvSpPr/>
          <p:nvPr/>
        </p:nvSpPr>
        <p:spPr>
          <a:xfrm>
            <a:off x="6675120" y="1691640"/>
            <a:ext cx="4572000" cy="365760"/>
          </a:xfrm>
          <a:prstGeom prst="rect">
            <a:avLst/>
          </a:prstGeom>
          <a:noFill/>
          <a:ln/>
        </p:spPr>
        <p:txBody>
          <a:bodyPr wrap="square" lIns="0" tIns="0" rIns="0" bIns="0" rtlCol="0" anchor="ctr"/>
          <a:lstStyle/>
          <a:p>
            <a:pPr indent="0" marL="0">
              <a:buNone/>
            </a:pPr>
            <a:r>
              <a:rPr lang="en-US" sz="2000" b="1" dirty="0">
                <a:solidFill>
                  <a:srgbClr val="042047"/>
                </a:solidFill>
                <a:latin typeface="Cambria" pitchFamily="34" charset="0"/>
                <a:ea typeface="Cambria" pitchFamily="34" charset="-122"/>
                <a:cs typeface="Cambria" pitchFamily="34" charset="-120"/>
              </a:rPr>
              <a:t>Colour Scheme</a:t>
            </a:r>
            <a:endParaRPr lang="en-US" sz="2000" dirty="0"/>
          </a:p>
        </p:txBody>
      </p:sp>
      <p:sp>
        <p:nvSpPr>
          <p:cNvPr id="20" name="Shape 18"/>
          <p:cNvSpPr/>
          <p:nvPr/>
        </p:nvSpPr>
        <p:spPr>
          <a:xfrm>
            <a:off x="6675120" y="2212848"/>
            <a:ext cx="548640" cy="502920"/>
          </a:xfrm>
          <a:prstGeom prst="roundRect">
            <a:avLst>
              <a:gd name="adj" fmla="val 14545"/>
            </a:avLst>
          </a:prstGeom>
          <a:solidFill>
            <a:srgbClr val="042047"/>
          </a:solidFill>
          <a:ln w="12700">
            <a:solidFill>
              <a:srgbClr val="9AA5B1"/>
            </a:solidFill>
            <a:prstDash val="solid"/>
          </a:ln>
        </p:spPr>
      </p:sp>
      <p:sp>
        <p:nvSpPr>
          <p:cNvPr id="21" name="Text 19"/>
          <p:cNvSpPr/>
          <p:nvPr/>
        </p:nvSpPr>
        <p:spPr>
          <a:xfrm>
            <a:off x="7360920" y="2212848"/>
            <a:ext cx="3931920" cy="274320"/>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Navy 042047</a:t>
            </a:r>
            <a:endParaRPr lang="en-US" sz="1300" dirty="0"/>
          </a:p>
        </p:txBody>
      </p:sp>
      <p:sp>
        <p:nvSpPr>
          <p:cNvPr id="22" name="Text 20"/>
          <p:cNvSpPr/>
          <p:nvPr/>
        </p:nvSpPr>
        <p:spPr>
          <a:xfrm>
            <a:off x="7360920" y="2459736"/>
            <a:ext cx="3931920" cy="256032"/>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Headings and footer</a:t>
            </a:r>
            <a:endParaRPr lang="en-US" sz="1100" dirty="0"/>
          </a:p>
        </p:txBody>
      </p:sp>
      <p:sp>
        <p:nvSpPr>
          <p:cNvPr id="23" name="Shape 21"/>
          <p:cNvSpPr/>
          <p:nvPr/>
        </p:nvSpPr>
        <p:spPr>
          <a:xfrm>
            <a:off x="6675120" y="2926080"/>
            <a:ext cx="548640" cy="502920"/>
          </a:xfrm>
          <a:prstGeom prst="roundRect">
            <a:avLst>
              <a:gd name="adj" fmla="val 14545"/>
            </a:avLst>
          </a:prstGeom>
          <a:solidFill>
            <a:srgbClr val="0D6EFD"/>
          </a:solidFill>
          <a:ln w="12700">
            <a:solidFill>
              <a:srgbClr val="9AA5B1"/>
            </a:solidFill>
            <a:prstDash val="solid"/>
          </a:ln>
        </p:spPr>
      </p:sp>
      <p:sp>
        <p:nvSpPr>
          <p:cNvPr id="24" name="Text 22"/>
          <p:cNvSpPr/>
          <p:nvPr/>
        </p:nvSpPr>
        <p:spPr>
          <a:xfrm>
            <a:off x="7360920" y="2926080"/>
            <a:ext cx="3931920" cy="274320"/>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Blue 0D6EFD</a:t>
            </a:r>
            <a:endParaRPr lang="en-US" sz="1300" dirty="0"/>
          </a:p>
        </p:txBody>
      </p:sp>
      <p:sp>
        <p:nvSpPr>
          <p:cNvPr id="25" name="Text 23"/>
          <p:cNvSpPr/>
          <p:nvPr/>
        </p:nvSpPr>
        <p:spPr>
          <a:xfrm>
            <a:off x="7360920" y="3172968"/>
            <a:ext cx="3931920" cy="256032"/>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Buttons and links</a:t>
            </a:r>
            <a:endParaRPr lang="en-US" sz="1100" dirty="0"/>
          </a:p>
        </p:txBody>
      </p:sp>
      <p:sp>
        <p:nvSpPr>
          <p:cNvPr id="26" name="Shape 24"/>
          <p:cNvSpPr/>
          <p:nvPr/>
        </p:nvSpPr>
        <p:spPr>
          <a:xfrm>
            <a:off x="6675120" y="3639312"/>
            <a:ext cx="548640" cy="502920"/>
          </a:xfrm>
          <a:prstGeom prst="roundRect">
            <a:avLst>
              <a:gd name="adj" fmla="val 14545"/>
            </a:avLst>
          </a:prstGeom>
          <a:solidFill>
            <a:srgbClr val="DCEEFF"/>
          </a:solidFill>
          <a:ln w="12700">
            <a:solidFill>
              <a:srgbClr val="9AA5B1"/>
            </a:solidFill>
            <a:prstDash val="solid"/>
          </a:ln>
        </p:spPr>
      </p:sp>
      <p:sp>
        <p:nvSpPr>
          <p:cNvPr id="27" name="Text 25"/>
          <p:cNvSpPr/>
          <p:nvPr/>
        </p:nvSpPr>
        <p:spPr>
          <a:xfrm>
            <a:off x="7360920" y="3639312"/>
            <a:ext cx="3931920" cy="274320"/>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Ice DCEEFF</a:t>
            </a:r>
            <a:endParaRPr lang="en-US" sz="1300" dirty="0"/>
          </a:p>
        </p:txBody>
      </p:sp>
      <p:sp>
        <p:nvSpPr>
          <p:cNvPr id="28" name="Text 26"/>
          <p:cNvSpPr/>
          <p:nvPr/>
        </p:nvSpPr>
        <p:spPr>
          <a:xfrm>
            <a:off x="7360920" y="3886200"/>
            <a:ext cx="3931920" cy="256032"/>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Section backgrounds</a:t>
            </a:r>
            <a:endParaRPr lang="en-US" sz="1100" dirty="0"/>
          </a:p>
        </p:txBody>
      </p:sp>
      <p:sp>
        <p:nvSpPr>
          <p:cNvPr id="29" name="Shape 27"/>
          <p:cNvSpPr/>
          <p:nvPr/>
        </p:nvSpPr>
        <p:spPr>
          <a:xfrm>
            <a:off x="6675120" y="4352544"/>
            <a:ext cx="548640" cy="502920"/>
          </a:xfrm>
          <a:prstGeom prst="roundRect">
            <a:avLst>
              <a:gd name="adj" fmla="val 14545"/>
            </a:avLst>
          </a:prstGeom>
          <a:solidFill>
            <a:srgbClr val="585858"/>
          </a:solidFill>
          <a:ln w="12700">
            <a:solidFill>
              <a:srgbClr val="9AA5B1"/>
            </a:solidFill>
            <a:prstDash val="solid"/>
          </a:ln>
        </p:spPr>
      </p:sp>
      <p:sp>
        <p:nvSpPr>
          <p:cNvPr id="30" name="Text 28"/>
          <p:cNvSpPr/>
          <p:nvPr/>
        </p:nvSpPr>
        <p:spPr>
          <a:xfrm>
            <a:off x="7360920" y="4352544"/>
            <a:ext cx="3931920" cy="274320"/>
          </a:xfrm>
          <a:prstGeom prst="rect">
            <a:avLst/>
          </a:prstGeom>
          <a:noFill/>
          <a:ln/>
        </p:spPr>
        <p:txBody>
          <a:bodyPr wrap="square" lIns="0" tIns="0" rIns="0" bIns="0" rtlCol="0" anchor="ctr"/>
          <a:lstStyle/>
          <a:p>
            <a:pPr indent="0" marL="0">
              <a:buNone/>
            </a:pPr>
            <a:r>
              <a:rPr lang="en-US" sz="1300" b="1" dirty="0">
                <a:solidFill>
                  <a:srgbClr val="042047"/>
                </a:solidFill>
                <a:latin typeface="Calibri" pitchFamily="34" charset="0"/>
                <a:ea typeface="Calibri" pitchFamily="34" charset="-122"/>
                <a:cs typeface="Calibri" pitchFamily="34" charset="-120"/>
              </a:rPr>
              <a:t>Grey 585858</a:t>
            </a:r>
            <a:endParaRPr lang="en-US" sz="1300" dirty="0"/>
          </a:p>
        </p:txBody>
      </p:sp>
      <p:sp>
        <p:nvSpPr>
          <p:cNvPr id="31" name="Text 29"/>
          <p:cNvSpPr/>
          <p:nvPr/>
        </p:nvSpPr>
        <p:spPr>
          <a:xfrm>
            <a:off x="7360920" y="4599432"/>
            <a:ext cx="3931920" cy="256032"/>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Normal paragraph text</a:t>
            </a:r>
            <a:endParaRPr lang="en-US" sz="1100" dirty="0"/>
          </a:p>
        </p:txBody>
      </p:sp>
      <p:sp>
        <p:nvSpPr>
          <p:cNvPr id="32" name="Shape 30"/>
          <p:cNvSpPr/>
          <p:nvPr/>
        </p:nvSpPr>
        <p:spPr>
          <a:xfrm>
            <a:off x="6675120" y="5257800"/>
            <a:ext cx="4892040" cy="777240"/>
          </a:xfrm>
          <a:prstGeom prst="roundRect">
            <a:avLst>
              <a:gd name="adj" fmla="val 11765"/>
            </a:avLst>
          </a:prstGeom>
          <a:solidFill>
            <a:srgbClr val="DCEEFF"/>
          </a:solidFill>
          <a:ln w="12700">
            <a:solidFill>
              <a:srgbClr val="0D6EFD"/>
            </a:solidFill>
            <a:prstDash val="dash"/>
          </a:ln>
        </p:spPr>
      </p:sp>
      <p:sp>
        <p:nvSpPr>
          <p:cNvPr id="33" name="Text 31"/>
          <p:cNvSpPr/>
          <p:nvPr/>
        </p:nvSpPr>
        <p:spPr>
          <a:xfrm>
            <a:off x="6675120" y="5257800"/>
            <a:ext cx="4892040" cy="77724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Wireframe or design sketch can go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Technology Stack</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What we used and why we chose it</a:t>
            </a:r>
            <a:endParaRPr lang="en-US" sz="1500" dirty="0"/>
          </a:p>
        </p:txBody>
      </p:sp>
      <p:sp>
        <p:nvSpPr>
          <p:cNvPr id="4" name="Shape 2"/>
          <p:cNvSpPr/>
          <p:nvPr/>
        </p:nvSpPr>
        <p:spPr>
          <a:xfrm>
            <a:off x="640080" y="1828800"/>
            <a:ext cx="3392424" cy="1828800"/>
          </a:xfrm>
          <a:prstGeom prst="roundRect">
            <a:avLst>
              <a:gd name="adj" fmla="val 6000"/>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Text 3"/>
          <p:cNvSpPr/>
          <p:nvPr/>
        </p:nvSpPr>
        <p:spPr>
          <a:xfrm>
            <a:off x="914400" y="202996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React 19</a:t>
            </a:r>
            <a:endParaRPr lang="en-US" sz="1900" dirty="0"/>
          </a:p>
        </p:txBody>
      </p:sp>
      <p:sp>
        <p:nvSpPr>
          <p:cNvPr id="6" name="Text 4"/>
          <p:cNvSpPr/>
          <p:nvPr/>
        </p:nvSpPr>
        <p:spPr>
          <a:xfrm>
            <a:off x="914400" y="245059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Component based, so Navbar and Footer are written once and reused everywhere</a:t>
            </a:r>
            <a:endParaRPr lang="en-US" sz="1200" dirty="0"/>
          </a:p>
        </p:txBody>
      </p:sp>
      <p:sp>
        <p:nvSpPr>
          <p:cNvPr id="7" name="Shape 5"/>
          <p:cNvSpPr/>
          <p:nvPr/>
        </p:nvSpPr>
        <p:spPr>
          <a:xfrm>
            <a:off x="4398264" y="1828800"/>
            <a:ext cx="3392424" cy="1828800"/>
          </a:xfrm>
          <a:prstGeom prst="roundRect">
            <a:avLst>
              <a:gd name="adj" fmla="val 6000"/>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8" name="Text 6"/>
          <p:cNvSpPr/>
          <p:nvPr/>
        </p:nvSpPr>
        <p:spPr>
          <a:xfrm>
            <a:off x="4672584" y="202996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Vite</a:t>
            </a:r>
            <a:endParaRPr lang="en-US" sz="1900" dirty="0"/>
          </a:p>
        </p:txBody>
      </p:sp>
      <p:sp>
        <p:nvSpPr>
          <p:cNvPr id="9" name="Text 7"/>
          <p:cNvSpPr/>
          <p:nvPr/>
        </p:nvSpPr>
        <p:spPr>
          <a:xfrm>
            <a:off x="4672584" y="245059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Very fast dev server and instant hot reload while coding</a:t>
            </a:r>
            <a:endParaRPr lang="en-US" sz="1200" dirty="0"/>
          </a:p>
        </p:txBody>
      </p:sp>
      <p:sp>
        <p:nvSpPr>
          <p:cNvPr id="10" name="Shape 8"/>
          <p:cNvSpPr/>
          <p:nvPr/>
        </p:nvSpPr>
        <p:spPr>
          <a:xfrm>
            <a:off x="8156448" y="1828800"/>
            <a:ext cx="3392424" cy="1828800"/>
          </a:xfrm>
          <a:prstGeom prst="roundRect">
            <a:avLst>
              <a:gd name="adj" fmla="val 6000"/>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1" name="Text 9"/>
          <p:cNvSpPr/>
          <p:nvPr/>
        </p:nvSpPr>
        <p:spPr>
          <a:xfrm>
            <a:off x="8430768" y="202996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Bootstrap 5</a:t>
            </a:r>
            <a:endParaRPr lang="en-US" sz="1900" dirty="0"/>
          </a:p>
        </p:txBody>
      </p:sp>
      <p:sp>
        <p:nvSpPr>
          <p:cNvPr id="12" name="Text 10"/>
          <p:cNvSpPr/>
          <p:nvPr/>
        </p:nvSpPr>
        <p:spPr>
          <a:xfrm>
            <a:off x="8430768" y="245059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Ready made responsive grid, so we did not write media queries from scratch</a:t>
            </a:r>
            <a:endParaRPr lang="en-US" sz="1200" dirty="0"/>
          </a:p>
        </p:txBody>
      </p:sp>
      <p:sp>
        <p:nvSpPr>
          <p:cNvPr id="13" name="Shape 11"/>
          <p:cNvSpPr/>
          <p:nvPr/>
        </p:nvSpPr>
        <p:spPr>
          <a:xfrm>
            <a:off x="640080" y="3977640"/>
            <a:ext cx="3392424" cy="1828800"/>
          </a:xfrm>
          <a:prstGeom prst="roundRect">
            <a:avLst>
              <a:gd name="adj" fmla="val 6000"/>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4" name="Text 12"/>
          <p:cNvSpPr/>
          <p:nvPr/>
        </p:nvSpPr>
        <p:spPr>
          <a:xfrm>
            <a:off x="914400" y="417880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React Router v7</a:t>
            </a:r>
            <a:endParaRPr lang="en-US" sz="1900" dirty="0"/>
          </a:p>
        </p:txBody>
      </p:sp>
      <p:sp>
        <p:nvSpPr>
          <p:cNvPr id="15" name="Text 13"/>
          <p:cNvSpPr/>
          <p:nvPr/>
        </p:nvSpPr>
        <p:spPr>
          <a:xfrm>
            <a:off x="914400" y="459943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Page navigation without reloading the browser</a:t>
            </a:r>
            <a:endParaRPr lang="en-US" sz="1200" dirty="0"/>
          </a:p>
        </p:txBody>
      </p:sp>
      <p:sp>
        <p:nvSpPr>
          <p:cNvPr id="16" name="Shape 14"/>
          <p:cNvSpPr/>
          <p:nvPr/>
        </p:nvSpPr>
        <p:spPr>
          <a:xfrm>
            <a:off x="4398264" y="3977640"/>
            <a:ext cx="3392424" cy="1828800"/>
          </a:xfrm>
          <a:prstGeom prst="roundRect">
            <a:avLst>
              <a:gd name="adj" fmla="val 6000"/>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7" name="Text 15"/>
          <p:cNvSpPr/>
          <p:nvPr/>
        </p:nvSpPr>
        <p:spPr>
          <a:xfrm>
            <a:off x="4672584" y="417880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Font Awesome</a:t>
            </a:r>
            <a:endParaRPr lang="en-US" sz="1900" dirty="0"/>
          </a:p>
        </p:txBody>
      </p:sp>
      <p:sp>
        <p:nvSpPr>
          <p:cNvPr id="18" name="Text 16"/>
          <p:cNvSpPr/>
          <p:nvPr/>
        </p:nvSpPr>
        <p:spPr>
          <a:xfrm>
            <a:off x="4672584" y="459943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Icons for buttons, forms and cards</a:t>
            </a:r>
            <a:endParaRPr lang="en-US" sz="1200" dirty="0"/>
          </a:p>
        </p:txBody>
      </p:sp>
      <p:sp>
        <p:nvSpPr>
          <p:cNvPr id="19" name="Shape 17"/>
          <p:cNvSpPr/>
          <p:nvPr/>
        </p:nvSpPr>
        <p:spPr>
          <a:xfrm>
            <a:off x="8156448" y="3977640"/>
            <a:ext cx="3392424" cy="1828800"/>
          </a:xfrm>
          <a:prstGeom prst="roundRect">
            <a:avLst>
              <a:gd name="adj" fmla="val 6000"/>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20" name="Text 18"/>
          <p:cNvSpPr/>
          <p:nvPr/>
        </p:nvSpPr>
        <p:spPr>
          <a:xfrm>
            <a:off x="8430768" y="4178808"/>
            <a:ext cx="2843784" cy="365760"/>
          </a:xfrm>
          <a:prstGeom prst="rect">
            <a:avLst/>
          </a:prstGeom>
          <a:noFill/>
          <a:ln/>
        </p:spPr>
        <p:txBody>
          <a:bodyPr wrap="square" lIns="0" tIns="0" rIns="0" bIns="0" rtlCol="0" anchor="ctr"/>
          <a:lstStyle/>
          <a:p>
            <a:pPr indent="0" marL="0">
              <a:buNone/>
            </a:pPr>
            <a:r>
              <a:rPr lang="en-US" sz="1900" b="1" dirty="0">
                <a:solidFill>
                  <a:srgbClr val="0D6EFD"/>
                </a:solidFill>
                <a:latin typeface="Cambria" pitchFamily="34" charset="0"/>
                <a:ea typeface="Cambria" pitchFamily="34" charset="-122"/>
                <a:cs typeface="Cambria" pitchFamily="34" charset="-120"/>
              </a:rPr>
              <a:t>JSON data</a:t>
            </a:r>
            <a:endParaRPr lang="en-US" sz="1900" dirty="0"/>
          </a:p>
        </p:txBody>
      </p:sp>
      <p:sp>
        <p:nvSpPr>
          <p:cNvPr id="21" name="Text 19"/>
          <p:cNvSpPr/>
          <p:nvPr/>
        </p:nvSpPr>
        <p:spPr>
          <a:xfrm>
            <a:off x="8430768" y="4599432"/>
            <a:ext cx="2843784" cy="914400"/>
          </a:xfrm>
          <a:prstGeom prst="rect">
            <a:avLst/>
          </a:prstGeom>
          <a:noFill/>
          <a:ln/>
        </p:spPr>
        <p:txBody>
          <a:bodyPr wrap="square" lIns="0" tIns="0" rIns="0" bIns="0" rtlCol="0" anchor="ctr"/>
          <a:lstStyle/>
          <a:p>
            <a:pPr indent="0" marL="0">
              <a:buNone/>
            </a:pPr>
            <a:r>
              <a:rPr lang="en-US" sz="1200" dirty="0">
                <a:solidFill>
                  <a:srgbClr val="585858"/>
                </a:solidFill>
                <a:latin typeface="Calibri" pitchFamily="34" charset="0"/>
                <a:ea typeface="Calibri" pitchFamily="34" charset="-122"/>
                <a:cs typeface="Calibri" pitchFamily="34" charset="-120"/>
              </a:rPr>
              <a:t>Doctor and patient data kept in JSON for now, backend comes later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Project Flow</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Live demo on screen</a:t>
            </a:r>
            <a:endParaRPr lang="en-US" sz="1500" dirty="0"/>
          </a:p>
        </p:txBody>
      </p:sp>
      <p:sp>
        <p:nvSpPr>
          <p:cNvPr id="4" name="Shape 2"/>
          <p:cNvSpPr/>
          <p:nvPr/>
        </p:nvSpPr>
        <p:spPr>
          <a:xfrm>
            <a:off x="640080" y="2194560"/>
            <a:ext cx="1815998" cy="1051560"/>
          </a:xfrm>
          <a:prstGeom prst="roundRect">
            <a:avLst>
              <a:gd name="adj" fmla="val 10435"/>
            </a:avLst>
          </a:prstGeom>
          <a:solidFill>
            <a:srgbClr val="DCEEFF"/>
          </a:solidFill>
          <a:ln w="12700">
            <a:solidFill>
              <a:srgbClr val="0D6EFD"/>
            </a:solidFill>
            <a:prstDash val="solid"/>
          </a:ln>
        </p:spPr>
      </p:sp>
      <p:sp>
        <p:nvSpPr>
          <p:cNvPr id="5" name="Text 3"/>
          <p:cNvSpPr/>
          <p:nvPr/>
        </p:nvSpPr>
        <p:spPr>
          <a:xfrm>
            <a:off x="640080" y="2194560"/>
            <a:ext cx="1815998" cy="1051560"/>
          </a:xfrm>
          <a:prstGeom prst="rect">
            <a:avLst/>
          </a:prstGeom>
          <a:noFill/>
          <a:ln/>
        </p:spPr>
        <p:txBody>
          <a:bodyPr wrap="square" lIns="0" tIns="0" rIns="0" bIns="0" rtlCol="0" anchor="ctr"/>
          <a:lstStyle/>
          <a:p>
            <a:pPr algn="ctr" indent="0" marL="0">
              <a:buNone/>
            </a:pPr>
            <a:r>
              <a:rPr lang="en-US" sz="1600" b="1" dirty="0">
                <a:solidFill>
                  <a:srgbClr val="042047"/>
                </a:solidFill>
                <a:latin typeface="Calibri" pitchFamily="34" charset="0"/>
                <a:ea typeface="Calibri" pitchFamily="34" charset="-122"/>
                <a:cs typeface="Calibri" pitchFamily="34" charset="-120"/>
              </a:rPr>
              <a:t>Home</a:t>
            </a:r>
            <a:endParaRPr lang="en-US" sz="1600" dirty="0"/>
          </a:p>
        </p:txBody>
      </p:sp>
      <p:sp>
        <p:nvSpPr>
          <p:cNvPr id="6" name="Text 4"/>
          <p:cNvSpPr/>
          <p:nvPr/>
        </p:nvSpPr>
        <p:spPr>
          <a:xfrm>
            <a:off x="2456078" y="2377440"/>
            <a:ext cx="457200" cy="68580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7" name="Shape 5"/>
          <p:cNvSpPr/>
          <p:nvPr/>
        </p:nvSpPr>
        <p:spPr>
          <a:xfrm>
            <a:off x="2913278" y="2194560"/>
            <a:ext cx="1815998" cy="1051560"/>
          </a:xfrm>
          <a:prstGeom prst="roundRect">
            <a:avLst>
              <a:gd name="adj" fmla="val 10435"/>
            </a:avLst>
          </a:prstGeom>
          <a:solidFill>
            <a:srgbClr val="0D6EFD"/>
          </a:solidFill>
          <a:ln w="12700">
            <a:solidFill>
              <a:srgbClr val="0D6EFD"/>
            </a:solidFill>
            <a:prstDash val="solid"/>
          </a:ln>
        </p:spPr>
      </p:sp>
      <p:sp>
        <p:nvSpPr>
          <p:cNvPr id="8" name="Text 6"/>
          <p:cNvSpPr/>
          <p:nvPr/>
        </p:nvSpPr>
        <p:spPr>
          <a:xfrm>
            <a:off x="2913278" y="2194560"/>
            <a:ext cx="1815998"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Login</a:t>
            </a:r>
            <a:endParaRPr lang="en-US" sz="1600" dirty="0"/>
          </a:p>
        </p:txBody>
      </p:sp>
      <p:sp>
        <p:nvSpPr>
          <p:cNvPr id="9" name="Text 7"/>
          <p:cNvSpPr/>
          <p:nvPr/>
        </p:nvSpPr>
        <p:spPr>
          <a:xfrm>
            <a:off x="4729277" y="2377440"/>
            <a:ext cx="457200" cy="68580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10" name="Shape 8"/>
          <p:cNvSpPr/>
          <p:nvPr/>
        </p:nvSpPr>
        <p:spPr>
          <a:xfrm>
            <a:off x="5186477" y="2194560"/>
            <a:ext cx="1815998" cy="1051560"/>
          </a:xfrm>
          <a:prstGeom prst="roundRect">
            <a:avLst>
              <a:gd name="adj" fmla="val 10435"/>
            </a:avLst>
          </a:prstGeom>
          <a:solidFill>
            <a:srgbClr val="0D6EFD"/>
          </a:solidFill>
          <a:ln w="12700">
            <a:solidFill>
              <a:srgbClr val="0D6EFD"/>
            </a:solidFill>
            <a:prstDash val="solid"/>
          </a:ln>
        </p:spPr>
      </p:sp>
      <p:sp>
        <p:nvSpPr>
          <p:cNvPr id="11" name="Text 9"/>
          <p:cNvSpPr/>
          <p:nvPr/>
        </p:nvSpPr>
        <p:spPr>
          <a:xfrm>
            <a:off x="5186477" y="2194560"/>
            <a:ext cx="1815998"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Appointment</a:t>
            </a:r>
            <a:endParaRPr lang="en-US" sz="1600" dirty="0"/>
          </a:p>
        </p:txBody>
      </p:sp>
      <p:sp>
        <p:nvSpPr>
          <p:cNvPr id="12" name="Text 10"/>
          <p:cNvSpPr/>
          <p:nvPr/>
        </p:nvSpPr>
        <p:spPr>
          <a:xfrm>
            <a:off x="7002475" y="2377440"/>
            <a:ext cx="457200" cy="68580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13" name="Shape 11"/>
          <p:cNvSpPr/>
          <p:nvPr/>
        </p:nvSpPr>
        <p:spPr>
          <a:xfrm>
            <a:off x="7459675" y="2194560"/>
            <a:ext cx="1815998" cy="1051560"/>
          </a:xfrm>
          <a:prstGeom prst="roundRect">
            <a:avLst>
              <a:gd name="adj" fmla="val 10435"/>
            </a:avLst>
          </a:prstGeom>
          <a:solidFill>
            <a:srgbClr val="0D6EFD"/>
          </a:solidFill>
          <a:ln w="12700">
            <a:solidFill>
              <a:srgbClr val="0D6EFD"/>
            </a:solidFill>
            <a:prstDash val="solid"/>
          </a:ln>
        </p:spPr>
      </p:sp>
      <p:sp>
        <p:nvSpPr>
          <p:cNvPr id="14" name="Text 12"/>
          <p:cNvSpPr/>
          <p:nvPr/>
        </p:nvSpPr>
        <p:spPr>
          <a:xfrm>
            <a:off x="7459675" y="2194560"/>
            <a:ext cx="1815998"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Dashboard</a:t>
            </a:r>
            <a:endParaRPr lang="en-US" sz="1600" dirty="0"/>
          </a:p>
        </p:txBody>
      </p:sp>
      <p:sp>
        <p:nvSpPr>
          <p:cNvPr id="15" name="Text 13"/>
          <p:cNvSpPr/>
          <p:nvPr/>
        </p:nvSpPr>
        <p:spPr>
          <a:xfrm>
            <a:off x="9275674" y="2377440"/>
            <a:ext cx="457200" cy="685800"/>
          </a:xfrm>
          <a:prstGeom prst="rect">
            <a:avLst/>
          </a:prstGeom>
          <a:noFill/>
          <a:ln/>
        </p:spPr>
        <p:txBody>
          <a:bodyPr wrap="square" lIns="0" tIns="0" rIns="0" bIns="0" rtlCol="0" anchor="ctr"/>
          <a:lstStyle/>
          <a:p>
            <a:pPr algn="ctr" indent="0" marL="0">
              <a:buNone/>
            </a:pPr>
            <a:r>
              <a:rPr lang="en-US" sz="3000" b="1" dirty="0">
                <a:solidFill>
                  <a:srgbClr val="0D6EFD"/>
                </a:solidFill>
                <a:latin typeface="Calibri" pitchFamily="34" charset="0"/>
                <a:ea typeface="Calibri" pitchFamily="34" charset="-122"/>
                <a:cs typeface="Calibri" pitchFamily="34" charset="-120"/>
              </a:rPr>
              <a:t>›</a:t>
            </a:r>
            <a:endParaRPr lang="en-US" sz="3000" dirty="0"/>
          </a:p>
        </p:txBody>
      </p:sp>
      <p:sp>
        <p:nvSpPr>
          <p:cNvPr id="16" name="Shape 14"/>
          <p:cNvSpPr/>
          <p:nvPr/>
        </p:nvSpPr>
        <p:spPr>
          <a:xfrm>
            <a:off x="9732874" y="2194560"/>
            <a:ext cx="1815998" cy="1051560"/>
          </a:xfrm>
          <a:prstGeom prst="roundRect">
            <a:avLst>
              <a:gd name="adj" fmla="val 10435"/>
            </a:avLst>
          </a:prstGeom>
          <a:solidFill>
            <a:srgbClr val="DCEEFF"/>
          </a:solidFill>
          <a:ln w="12700">
            <a:solidFill>
              <a:srgbClr val="0D6EFD"/>
            </a:solidFill>
            <a:prstDash val="solid"/>
          </a:ln>
        </p:spPr>
      </p:sp>
      <p:sp>
        <p:nvSpPr>
          <p:cNvPr id="17" name="Text 15"/>
          <p:cNvSpPr/>
          <p:nvPr/>
        </p:nvSpPr>
        <p:spPr>
          <a:xfrm>
            <a:off x="9732874" y="2194560"/>
            <a:ext cx="1815998" cy="1051560"/>
          </a:xfrm>
          <a:prstGeom prst="rect">
            <a:avLst/>
          </a:prstGeom>
          <a:noFill/>
          <a:ln/>
        </p:spPr>
        <p:txBody>
          <a:bodyPr wrap="square" lIns="0" tIns="0" rIns="0" bIns="0" rtlCol="0" anchor="ctr"/>
          <a:lstStyle/>
          <a:p>
            <a:pPr algn="ctr" indent="0" marL="0">
              <a:buNone/>
            </a:pPr>
            <a:r>
              <a:rPr lang="en-US" sz="1600" b="1" dirty="0">
                <a:solidFill>
                  <a:srgbClr val="042047"/>
                </a:solidFill>
                <a:latin typeface="Calibri" pitchFamily="34" charset="0"/>
                <a:ea typeface="Calibri" pitchFamily="34" charset="-122"/>
                <a:cs typeface="Calibri" pitchFamily="34" charset="-120"/>
              </a:rPr>
              <a:t>Logout</a:t>
            </a:r>
            <a:endParaRPr lang="en-US" sz="1600" dirty="0"/>
          </a:p>
        </p:txBody>
      </p:sp>
      <p:sp>
        <p:nvSpPr>
          <p:cNvPr id="18" name="Shape 16"/>
          <p:cNvSpPr/>
          <p:nvPr/>
        </p:nvSpPr>
        <p:spPr>
          <a:xfrm>
            <a:off x="640080" y="3977640"/>
            <a:ext cx="10908792" cy="1920240"/>
          </a:xfrm>
          <a:prstGeom prst="roundRect">
            <a:avLst>
              <a:gd name="adj" fmla="val 5714"/>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9" name="Text 17"/>
          <p:cNvSpPr/>
          <p:nvPr/>
        </p:nvSpPr>
        <p:spPr>
          <a:xfrm>
            <a:off x="1005840" y="4206240"/>
            <a:ext cx="7315200" cy="365760"/>
          </a:xfrm>
          <a:prstGeom prst="rect">
            <a:avLst/>
          </a:prstGeom>
          <a:noFill/>
          <a:ln/>
        </p:spPr>
        <p:txBody>
          <a:bodyPr wrap="square" lIns="0" tIns="0" rIns="0" bIns="0" rtlCol="0" anchor="ctr"/>
          <a:lstStyle/>
          <a:p>
            <a:pPr indent="0" marL="0">
              <a:buNone/>
            </a:pPr>
            <a:r>
              <a:rPr lang="en-US" sz="1900" b="1" dirty="0">
                <a:solidFill>
                  <a:srgbClr val="042047"/>
                </a:solidFill>
                <a:latin typeface="Cambria" pitchFamily="34" charset="0"/>
                <a:ea typeface="Cambria" pitchFamily="34" charset="-122"/>
                <a:cs typeface="Cambria" pitchFamily="34" charset="-120"/>
              </a:rPr>
              <a:t>Points to show while demonstrating</a:t>
            </a:r>
            <a:endParaRPr lang="en-US" sz="1900" dirty="0"/>
          </a:p>
        </p:txBody>
      </p:sp>
      <p:sp>
        <p:nvSpPr>
          <p:cNvPr id="20" name="Text 18"/>
          <p:cNvSpPr/>
          <p:nvPr/>
        </p:nvSpPr>
        <p:spPr>
          <a:xfrm>
            <a:off x="1005840" y="4663440"/>
            <a:ext cx="10177272"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42047"/>
                </a:solidFill>
                <a:latin typeface="Calibri" pitchFamily="34" charset="0"/>
                <a:ea typeface="Calibri" pitchFamily="34" charset="-122"/>
                <a:cs typeface="Calibri" pitchFamily="34" charset="-120"/>
              </a:rPr>
              <a:t>Try opening the appointment page without login, it redirects to login automatically</a:t>
            </a:r>
            <a:endParaRPr lang="en-US" sz="1300" dirty="0"/>
          </a:p>
          <a:p>
            <a:pPr marL="342900" indent="-342900">
              <a:spcAft>
                <a:spcPts val="600"/>
              </a:spcAft>
              <a:buSzPct val="100000"/>
              <a:buChar char="•"/>
            </a:pPr>
            <a:r>
              <a:rPr lang="en-US" sz="1300" dirty="0">
                <a:solidFill>
                  <a:srgbClr val="042047"/>
                </a:solidFill>
                <a:latin typeface="Calibri" pitchFamily="34" charset="0"/>
                <a:ea typeface="Calibri" pitchFamily="34" charset="-122"/>
                <a:cs typeface="Calibri" pitchFamily="34" charset="-120"/>
              </a:rPr>
              <a:t>After login the username appears in the navbar and Login button becomes Logout</a:t>
            </a:r>
            <a:endParaRPr lang="en-US" sz="1300" dirty="0"/>
          </a:p>
          <a:p>
            <a:pPr marL="342900" indent="-342900">
              <a:spcAft>
                <a:spcPts val="600"/>
              </a:spcAft>
              <a:buSzPct val="100000"/>
              <a:buChar char="•"/>
            </a:pPr>
            <a:r>
              <a:rPr lang="en-US" sz="1300" dirty="0">
                <a:solidFill>
                  <a:srgbClr val="042047"/>
                </a:solidFill>
                <a:latin typeface="Calibri" pitchFamily="34" charset="0"/>
                <a:ea typeface="Calibri" pitchFamily="34" charset="-122"/>
                <a:cs typeface="Calibri" pitchFamily="34" charset="-120"/>
              </a:rPr>
              <a:t>Notice the page does not reload while moving between pages, this is React Router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Responsiveness</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Live demo, resizing in browser DevTools</a:t>
            </a:r>
            <a:endParaRPr lang="en-US" sz="1500" dirty="0"/>
          </a:p>
        </p:txBody>
      </p:sp>
      <p:sp>
        <p:nvSpPr>
          <p:cNvPr id="4" name="Shape 2"/>
          <p:cNvSpPr/>
          <p:nvPr/>
        </p:nvSpPr>
        <p:spPr>
          <a:xfrm>
            <a:off x="640080" y="1828800"/>
            <a:ext cx="3361944" cy="2743200"/>
          </a:xfrm>
          <a:prstGeom prst="roundRect">
            <a:avLst>
              <a:gd name="adj" fmla="val 4000"/>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Text 3"/>
          <p:cNvSpPr/>
          <p:nvPr/>
        </p:nvSpPr>
        <p:spPr>
          <a:xfrm>
            <a:off x="640080" y="2103120"/>
            <a:ext cx="3361944" cy="548640"/>
          </a:xfrm>
          <a:prstGeom prst="rect">
            <a:avLst/>
          </a:prstGeom>
          <a:noFill/>
          <a:ln/>
        </p:spPr>
        <p:txBody>
          <a:bodyPr wrap="square" lIns="0" tIns="0" rIns="0" bIns="0" rtlCol="0" anchor="ctr"/>
          <a:lstStyle/>
          <a:p>
            <a:pPr algn="ctr" indent="0" marL="0">
              <a:buNone/>
            </a:pPr>
            <a:r>
              <a:rPr lang="en-US" sz="3400" b="1" dirty="0">
                <a:solidFill>
                  <a:srgbClr val="0D6EFD"/>
                </a:solidFill>
                <a:latin typeface="Cambria" pitchFamily="34" charset="0"/>
                <a:ea typeface="Cambria" pitchFamily="34" charset="-122"/>
                <a:cs typeface="Cambria" pitchFamily="34" charset="-120"/>
              </a:rPr>
              <a:t>1200 px</a:t>
            </a:r>
            <a:endParaRPr lang="en-US" sz="3400" dirty="0"/>
          </a:p>
        </p:txBody>
      </p:sp>
      <p:sp>
        <p:nvSpPr>
          <p:cNvPr id="6" name="Text 4"/>
          <p:cNvSpPr/>
          <p:nvPr/>
        </p:nvSpPr>
        <p:spPr>
          <a:xfrm>
            <a:off x="640080" y="2697480"/>
            <a:ext cx="3361944" cy="365760"/>
          </a:xfrm>
          <a:prstGeom prst="rect">
            <a:avLst/>
          </a:prstGeom>
          <a:noFill/>
          <a:ln/>
        </p:spPr>
        <p:txBody>
          <a:bodyPr wrap="square" lIns="0" tIns="0" rIns="0" bIns="0" rtlCol="0" anchor="ctr"/>
          <a:lstStyle/>
          <a:p>
            <a:pPr algn="ctr" indent="0" marL="0">
              <a:buNone/>
            </a:pPr>
            <a:r>
              <a:rPr lang="en-US" sz="1700" b="1" dirty="0">
                <a:solidFill>
                  <a:srgbClr val="042047"/>
                </a:solidFill>
                <a:latin typeface="Calibri" pitchFamily="34" charset="0"/>
                <a:ea typeface="Calibri" pitchFamily="34" charset="-122"/>
                <a:cs typeface="Calibri" pitchFamily="34" charset="-120"/>
              </a:rPr>
              <a:t>Desktop</a:t>
            </a:r>
            <a:endParaRPr lang="en-US" sz="1700" dirty="0"/>
          </a:p>
        </p:txBody>
      </p:sp>
      <p:sp>
        <p:nvSpPr>
          <p:cNvPr id="7" name="Text 5"/>
          <p:cNvSpPr/>
          <p:nvPr/>
        </p:nvSpPr>
        <p:spPr>
          <a:xfrm>
            <a:off x="868680" y="3154680"/>
            <a:ext cx="2904744" cy="100584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Four cards in one row,</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full navbar menu visible</a:t>
            </a:r>
            <a:endParaRPr lang="en-US" sz="1300" dirty="0"/>
          </a:p>
        </p:txBody>
      </p:sp>
      <p:sp>
        <p:nvSpPr>
          <p:cNvPr id="8" name="Shape 6"/>
          <p:cNvSpPr/>
          <p:nvPr/>
        </p:nvSpPr>
        <p:spPr>
          <a:xfrm>
            <a:off x="4413504" y="1828800"/>
            <a:ext cx="3361944" cy="2743200"/>
          </a:xfrm>
          <a:prstGeom prst="roundRect">
            <a:avLst>
              <a:gd name="adj" fmla="val 4000"/>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9" name="Text 7"/>
          <p:cNvSpPr/>
          <p:nvPr/>
        </p:nvSpPr>
        <p:spPr>
          <a:xfrm>
            <a:off x="4413504" y="2103120"/>
            <a:ext cx="3361944" cy="548640"/>
          </a:xfrm>
          <a:prstGeom prst="rect">
            <a:avLst/>
          </a:prstGeom>
          <a:noFill/>
          <a:ln/>
        </p:spPr>
        <p:txBody>
          <a:bodyPr wrap="square" lIns="0" tIns="0" rIns="0" bIns="0" rtlCol="0" anchor="ctr"/>
          <a:lstStyle/>
          <a:p>
            <a:pPr algn="ctr" indent="0" marL="0">
              <a:buNone/>
            </a:pPr>
            <a:r>
              <a:rPr lang="en-US" sz="3400" b="1" dirty="0">
                <a:solidFill>
                  <a:srgbClr val="0D6EFD"/>
                </a:solidFill>
                <a:latin typeface="Cambria" pitchFamily="34" charset="0"/>
                <a:ea typeface="Cambria" pitchFamily="34" charset="-122"/>
                <a:cs typeface="Cambria" pitchFamily="34" charset="-120"/>
              </a:rPr>
              <a:t>768 px</a:t>
            </a:r>
            <a:endParaRPr lang="en-US" sz="3400" dirty="0"/>
          </a:p>
        </p:txBody>
      </p:sp>
      <p:sp>
        <p:nvSpPr>
          <p:cNvPr id="10" name="Text 8"/>
          <p:cNvSpPr/>
          <p:nvPr/>
        </p:nvSpPr>
        <p:spPr>
          <a:xfrm>
            <a:off x="4413504" y="2697480"/>
            <a:ext cx="3361944" cy="365760"/>
          </a:xfrm>
          <a:prstGeom prst="rect">
            <a:avLst/>
          </a:prstGeom>
          <a:noFill/>
          <a:ln/>
        </p:spPr>
        <p:txBody>
          <a:bodyPr wrap="square" lIns="0" tIns="0" rIns="0" bIns="0" rtlCol="0" anchor="ctr"/>
          <a:lstStyle/>
          <a:p>
            <a:pPr algn="ctr" indent="0" marL="0">
              <a:buNone/>
            </a:pPr>
            <a:r>
              <a:rPr lang="en-US" sz="1700" b="1" dirty="0">
                <a:solidFill>
                  <a:srgbClr val="042047"/>
                </a:solidFill>
                <a:latin typeface="Calibri" pitchFamily="34" charset="0"/>
                <a:ea typeface="Calibri" pitchFamily="34" charset="-122"/>
                <a:cs typeface="Calibri" pitchFamily="34" charset="-120"/>
              </a:rPr>
              <a:t>Tablet</a:t>
            </a:r>
            <a:endParaRPr lang="en-US" sz="1700" dirty="0"/>
          </a:p>
        </p:txBody>
      </p:sp>
      <p:sp>
        <p:nvSpPr>
          <p:cNvPr id="11" name="Text 9"/>
          <p:cNvSpPr/>
          <p:nvPr/>
        </p:nvSpPr>
        <p:spPr>
          <a:xfrm>
            <a:off x="4642104" y="3154680"/>
            <a:ext cx="2904744" cy="100584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Two cards per row,</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sections start stacking</a:t>
            </a:r>
            <a:endParaRPr lang="en-US" sz="1300" dirty="0"/>
          </a:p>
        </p:txBody>
      </p:sp>
      <p:sp>
        <p:nvSpPr>
          <p:cNvPr id="12" name="Shape 10"/>
          <p:cNvSpPr/>
          <p:nvPr/>
        </p:nvSpPr>
        <p:spPr>
          <a:xfrm>
            <a:off x="8186928" y="1828800"/>
            <a:ext cx="3361944" cy="2743200"/>
          </a:xfrm>
          <a:prstGeom prst="roundRect">
            <a:avLst>
              <a:gd name="adj" fmla="val 4000"/>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13" name="Text 11"/>
          <p:cNvSpPr/>
          <p:nvPr/>
        </p:nvSpPr>
        <p:spPr>
          <a:xfrm>
            <a:off x="8186928" y="2103120"/>
            <a:ext cx="3361944" cy="548640"/>
          </a:xfrm>
          <a:prstGeom prst="rect">
            <a:avLst/>
          </a:prstGeom>
          <a:noFill/>
          <a:ln/>
        </p:spPr>
        <p:txBody>
          <a:bodyPr wrap="square" lIns="0" tIns="0" rIns="0" bIns="0" rtlCol="0" anchor="ctr"/>
          <a:lstStyle/>
          <a:p>
            <a:pPr algn="ctr" indent="0" marL="0">
              <a:buNone/>
            </a:pPr>
            <a:r>
              <a:rPr lang="en-US" sz="3400" b="1" dirty="0">
                <a:solidFill>
                  <a:srgbClr val="0D6EFD"/>
                </a:solidFill>
                <a:latin typeface="Cambria" pitchFamily="34" charset="0"/>
                <a:ea typeface="Cambria" pitchFamily="34" charset="-122"/>
                <a:cs typeface="Cambria" pitchFamily="34" charset="-120"/>
              </a:rPr>
              <a:t>420 px</a:t>
            </a:r>
            <a:endParaRPr lang="en-US" sz="3400" dirty="0"/>
          </a:p>
        </p:txBody>
      </p:sp>
      <p:sp>
        <p:nvSpPr>
          <p:cNvPr id="14" name="Text 12"/>
          <p:cNvSpPr/>
          <p:nvPr/>
        </p:nvSpPr>
        <p:spPr>
          <a:xfrm>
            <a:off x="8186928" y="2697480"/>
            <a:ext cx="3361944" cy="365760"/>
          </a:xfrm>
          <a:prstGeom prst="rect">
            <a:avLst/>
          </a:prstGeom>
          <a:noFill/>
          <a:ln/>
        </p:spPr>
        <p:txBody>
          <a:bodyPr wrap="square" lIns="0" tIns="0" rIns="0" bIns="0" rtlCol="0" anchor="ctr"/>
          <a:lstStyle/>
          <a:p>
            <a:pPr algn="ctr" indent="0" marL="0">
              <a:buNone/>
            </a:pPr>
            <a:r>
              <a:rPr lang="en-US" sz="1700" b="1" dirty="0">
                <a:solidFill>
                  <a:srgbClr val="042047"/>
                </a:solidFill>
                <a:latin typeface="Calibri" pitchFamily="34" charset="0"/>
                <a:ea typeface="Calibri" pitchFamily="34" charset="-122"/>
                <a:cs typeface="Calibri" pitchFamily="34" charset="-120"/>
              </a:rPr>
              <a:t>Mobile</a:t>
            </a:r>
            <a:endParaRPr lang="en-US" sz="1700" dirty="0"/>
          </a:p>
        </p:txBody>
      </p:sp>
      <p:sp>
        <p:nvSpPr>
          <p:cNvPr id="15" name="Text 13"/>
          <p:cNvSpPr/>
          <p:nvPr/>
        </p:nvSpPr>
        <p:spPr>
          <a:xfrm>
            <a:off x="8415528" y="3154680"/>
            <a:ext cx="2904744" cy="1005840"/>
          </a:xfrm>
          <a:prstGeom prst="rect">
            <a:avLst/>
          </a:prstGeom>
          <a:noFill/>
          <a:ln/>
        </p:spPr>
        <p:txBody>
          <a:bodyPr wrap="square" lIns="0" tIns="0" rIns="0" bIns="0" rtlCol="0" anchor="ctr"/>
          <a:lstStyle/>
          <a:p>
            <a:pPr algn="ctr" indent="0" marL="0">
              <a:buNone/>
            </a:pPr>
            <a:r>
              <a:rPr lang="en-US" sz="1300" dirty="0">
                <a:solidFill>
                  <a:srgbClr val="585858"/>
                </a:solidFill>
                <a:latin typeface="Calibri" pitchFamily="34" charset="0"/>
                <a:ea typeface="Calibri" pitchFamily="34" charset="-122"/>
                <a:cs typeface="Calibri" pitchFamily="34" charset="-120"/>
              </a:rPr>
              <a:t>One card per row,</a:t>
            </a:r>
            <a:endParaRPr lang="en-US" sz="1300" dirty="0"/>
          </a:p>
          <a:p>
            <a:pPr algn="ctr" indent="0" marL="0">
              <a:buNone/>
            </a:pPr>
            <a:r>
              <a:rPr lang="en-US" sz="1300" dirty="0">
                <a:solidFill>
                  <a:srgbClr val="585858"/>
                </a:solidFill>
                <a:latin typeface="Calibri" pitchFamily="34" charset="0"/>
                <a:ea typeface="Calibri" pitchFamily="34" charset="-122"/>
                <a:cs typeface="Calibri" pitchFamily="34" charset="-120"/>
              </a:rPr>
              <a:t>navbar becomes hamburger</a:t>
            </a:r>
            <a:endParaRPr lang="en-US" sz="1300" dirty="0"/>
          </a:p>
        </p:txBody>
      </p:sp>
      <p:sp>
        <p:nvSpPr>
          <p:cNvPr id="16" name="Text 14"/>
          <p:cNvSpPr/>
          <p:nvPr/>
        </p:nvSpPr>
        <p:spPr>
          <a:xfrm>
            <a:off x="640080" y="4983480"/>
            <a:ext cx="10908792" cy="548640"/>
          </a:xfrm>
          <a:prstGeom prst="rect">
            <a:avLst/>
          </a:prstGeom>
          <a:noFill/>
          <a:ln/>
        </p:spPr>
        <p:txBody>
          <a:bodyPr wrap="square" lIns="0" tIns="0" rIns="0" bIns="0" rtlCol="0" anchor="ctr"/>
          <a:lstStyle/>
          <a:p>
            <a:pPr algn="ctr" indent="0" marL="0">
              <a:buNone/>
            </a:pPr>
            <a:r>
              <a:rPr lang="en-US" sz="1400" dirty="0">
                <a:solidFill>
                  <a:srgbClr val="042047"/>
                </a:solidFill>
                <a:latin typeface="Calibri" pitchFamily="34" charset="0"/>
                <a:ea typeface="Calibri" pitchFamily="34" charset="-122"/>
                <a:cs typeface="Calibri" pitchFamily="34" charset="-120"/>
              </a:rPr>
              <a:t>Bootstrap's 12 column grid handles this. Classes like col-lg-6 and col-md-4 decide the columns at each size.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Code Explanation</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Live walkthrough in VS Code</a:t>
            </a:r>
            <a:endParaRPr lang="en-US" sz="1500" dirty="0"/>
          </a:p>
        </p:txBody>
      </p:sp>
      <p:sp>
        <p:nvSpPr>
          <p:cNvPr id="4" name="Shape 2"/>
          <p:cNvSpPr/>
          <p:nvPr/>
        </p:nvSpPr>
        <p:spPr>
          <a:xfrm>
            <a:off x="640080" y="1783080"/>
            <a:ext cx="5029200" cy="4114800"/>
          </a:xfrm>
          <a:prstGeom prst="roundRect">
            <a:avLst>
              <a:gd name="adj" fmla="val 266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Text 3"/>
          <p:cNvSpPr/>
          <p:nvPr/>
        </p:nvSpPr>
        <p:spPr>
          <a:xfrm>
            <a:off x="960120" y="2011680"/>
            <a:ext cx="3657600" cy="365760"/>
          </a:xfrm>
          <a:prstGeom prst="rect">
            <a:avLst/>
          </a:prstGeom>
          <a:noFill/>
          <a:ln/>
        </p:spPr>
        <p:txBody>
          <a:bodyPr wrap="square" lIns="0" tIns="0" rIns="0" bIns="0" rtlCol="0" anchor="ctr"/>
          <a:lstStyle/>
          <a:p>
            <a:pPr indent="0" marL="0">
              <a:buNone/>
            </a:pPr>
            <a:r>
              <a:rPr lang="en-US" sz="1900" b="1" dirty="0">
                <a:solidFill>
                  <a:srgbClr val="042047"/>
                </a:solidFill>
                <a:latin typeface="Cambria" pitchFamily="34" charset="0"/>
                <a:ea typeface="Cambria" pitchFamily="34" charset="-122"/>
                <a:cs typeface="Cambria" pitchFamily="34" charset="-120"/>
              </a:rPr>
              <a:t>Folder Structure</a:t>
            </a:r>
            <a:endParaRPr lang="en-US" sz="1900" dirty="0"/>
          </a:p>
        </p:txBody>
      </p:sp>
      <p:sp>
        <p:nvSpPr>
          <p:cNvPr id="6" name="Text 4"/>
          <p:cNvSpPr/>
          <p:nvPr/>
        </p:nvSpPr>
        <p:spPr>
          <a:xfrm>
            <a:off x="960120" y="2468880"/>
            <a:ext cx="4389120" cy="3200400"/>
          </a:xfrm>
          <a:prstGeom prst="rect">
            <a:avLst/>
          </a:prstGeom>
          <a:noFill/>
          <a:ln/>
        </p:spPr>
        <p:txBody>
          <a:bodyPr wrap="square" lIns="0" tIns="0" rIns="0" bIns="0" rtlCol="0" anchor="ctr"/>
          <a:lstStyle/>
          <a:p>
            <a:pPr indent="0" marL="0">
              <a:buNone/>
            </a:pPr>
            <a:r>
              <a:rPr lang="en-US" sz="1250" dirty="0">
                <a:solidFill>
                  <a:srgbClr val="042047"/>
                </a:solidFill>
                <a:latin typeface="Courier New" pitchFamily="34" charset="0"/>
                <a:ea typeface="Courier New" pitchFamily="34" charset="-122"/>
                <a:cs typeface="Courier New" pitchFamily="34" charset="-120"/>
              </a:rPr>
              <a:t>src/</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App.jsx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main.jsx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Navbar.jsx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Footer.jsx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HomePage.jsx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Doctors.jsx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SingleDoctor.jsx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Appointment.jsx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LoginPage.jsx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ProtectedRoute.jsx</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useDebounce.js</a:t>
            </a:r>
            <a:endParaRPr lang="en-US" sz="1250" dirty="0"/>
          </a:p>
          <a:p>
            <a:pPr indent="0" marL="0">
              <a:buNone/>
            </a:pPr>
            <a:r>
              <a:rPr lang="en-US" sz="1250" dirty="0">
                <a:solidFill>
                  <a:srgbClr val="042047"/>
                </a:solidFill>
                <a:latin typeface="Courier New" pitchFamily="34" charset="0"/>
                <a:ea typeface="Courier New" pitchFamily="34" charset="-122"/>
                <a:cs typeface="Courier New" pitchFamily="34" charset="-120"/>
              </a:rPr>
              <a:t>  App.css</a:t>
            </a:r>
            <a:endParaRPr lang="en-US" sz="1250" dirty="0"/>
          </a:p>
        </p:txBody>
      </p:sp>
      <p:sp>
        <p:nvSpPr>
          <p:cNvPr id="7" name="Text 5"/>
          <p:cNvSpPr/>
          <p:nvPr/>
        </p:nvSpPr>
        <p:spPr>
          <a:xfrm>
            <a:off x="6035040" y="2011680"/>
            <a:ext cx="4572000" cy="365760"/>
          </a:xfrm>
          <a:prstGeom prst="rect">
            <a:avLst/>
          </a:prstGeom>
          <a:noFill/>
          <a:ln/>
        </p:spPr>
        <p:txBody>
          <a:bodyPr wrap="square" lIns="0" tIns="0" rIns="0" bIns="0" rtlCol="0" anchor="ctr"/>
          <a:lstStyle/>
          <a:p>
            <a:pPr indent="0" marL="0">
              <a:buNone/>
            </a:pPr>
            <a:r>
              <a:rPr lang="en-US" sz="1900" b="1" dirty="0">
                <a:solidFill>
                  <a:srgbClr val="042047"/>
                </a:solidFill>
                <a:latin typeface="Cambria" pitchFamily="34" charset="0"/>
                <a:ea typeface="Cambria" pitchFamily="34" charset="-122"/>
                <a:cs typeface="Cambria" pitchFamily="34" charset="-120"/>
              </a:rPr>
              <a:t>Order to show the files</a:t>
            </a:r>
            <a:endParaRPr lang="en-US" sz="1900" dirty="0"/>
          </a:p>
        </p:txBody>
      </p:sp>
      <p:sp>
        <p:nvSpPr>
          <p:cNvPr id="8" name="Shape 6"/>
          <p:cNvSpPr/>
          <p:nvPr/>
        </p:nvSpPr>
        <p:spPr>
          <a:xfrm>
            <a:off x="6035040" y="2487168"/>
            <a:ext cx="411480" cy="411480"/>
          </a:xfrm>
          <a:prstGeom prst="ellipse">
            <a:avLst/>
          </a:prstGeom>
          <a:solidFill>
            <a:srgbClr val="0D6EFD"/>
          </a:solidFill>
          <a:ln/>
        </p:spPr>
      </p:sp>
      <p:sp>
        <p:nvSpPr>
          <p:cNvPr id="9" name="Text 7"/>
          <p:cNvSpPr/>
          <p:nvPr/>
        </p:nvSpPr>
        <p:spPr>
          <a:xfrm>
            <a:off x="6035040" y="248716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6583680" y="2468880"/>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main.jsx</a:t>
            </a:r>
            <a:endParaRPr lang="en-US" sz="1300" dirty="0"/>
          </a:p>
        </p:txBody>
      </p:sp>
      <p:sp>
        <p:nvSpPr>
          <p:cNvPr id="11" name="Text 9"/>
          <p:cNvSpPr/>
          <p:nvPr/>
        </p:nvSpPr>
        <p:spPr>
          <a:xfrm>
            <a:off x="6583680" y="2715768"/>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Entry file. Loads Bootstrap and renders App</a:t>
            </a:r>
            <a:endParaRPr lang="en-US" sz="1100" dirty="0"/>
          </a:p>
        </p:txBody>
      </p:sp>
      <p:sp>
        <p:nvSpPr>
          <p:cNvPr id="12" name="Shape 10"/>
          <p:cNvSpPr/>
          <p:nvPr/>
        </p:nvSpPr>
        <p:spPr>
          <a:xfrm>
            <a:off x="6035040" y="3054096"/>
            <a:ext cx="411480" cy="411480"/>
          </a:xfrm>
          <a:prstGeom prst="ellipse">
            <a:avLst/>
          </a:prstGeom>
          <a:solidFill>
            <a:srgbClr val="0D6EFD"/>
          </a:solidFill>
          <a:ln/>
        </p:spPr>
      </p:sp>
      <p:sp>
        <p:nvSpPr>
          <p:cNvPr id="13" name="Text 11"/>
          <p:cNvSpPr/>
          <p:nvPr/>
        </p:nvSpPr>
        <p:spPr>
          <a:xfrm>
            <a:off x="6035040" y="305409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583680" y="3035808"/>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App.jsx</a:t>
            </a:r>
            <a:endParaRPr lang="en-US" sz="1300" dirty="0"/>
          </a:p>
        </p:txBody>
      </p:sp>
      <p:sp>
        <p:nvSpPr>
          <p:cNvPr id="15" name="Text 13"/>
          <p:cNvSpPr/>
          <p:nvPr/>
        </p:nvSpPr>
        <p:spPr>
          <a:xfrm>
            <a:off x="6583680" y="3282696"/>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BrowserRouter and all the Route paths</a:t>
            </a:r>
            <a:endParaRPr lang="en-US" sz="1100" dirty="0"/>
          </a:p>
        </p:txBody>
      </p:sp>
      <p:sp>
        <p:nvSpPr>
          <p:cNvPr id="16" name="Shape 14"/>
          <p:cNvSpPr/>
          <p:nvPr/>
        </p:nvSpPr>
        <p:spPr>
          <a:xfrm>
            <a:off x="6035040" y="3621024"/>
            <a:ext cx="411480" cy="411480"/>
          </a:xfrm>
          <a:prstGeom prst="ellipse">
            <a:avLst/>
          </a:prstGeom>
          <a:solidFill>
            <a:srgbClr val="0D6EFD"/>
          </a:solidFill>
          <a:ln/>
        </p:spPr>
      </p:sp>
      <p:sp>
        <p:nvSpPr>
          <p:cNvPr id="17" name="Text 15"/>
          <p:cNvSpPr/>
          <p:nvPr/>
        </p:nvSpPr>
        <p:spPr>
          <a:xfrm>
            <a:off x="6035040" y="362102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583680" y="3602736"/>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Navbar.jsx</a:t>
            </a:r>
            <a:endParaRPr lang="en-US" sz="1300" dirty="0"/>
          </a:p>
        </p:txBody>
      </p:sp>
      <p:sp>
        <p:nvSpPr>
          <p:cNvPr id="19" name="Text 17"/>
          <p:cNvSpPr/>
          <p:nvPr/>
        </p:nvSpPr>
        <p:spPr>
          <a:xfrm>
            <a:off x="6583680" y="3849624"/>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Reusable component, shows Login or Logout based on condition</a:t>
            </a:r>
            <a:endParaRPr lang="en-US" sz="1100" dirty="0"/>
          </a:p>
        </p:txBody>
      </p:sp>
      <p:sp>
        <p:nvSpPr>
          <p:cNvPr id="20" name="Shape 18"/>
          <p:cNvSpPr/>
          <p:nvPr/>
        </p:nvSpPr>
        <p:spPr>
          <a:xfrm>
            <a:off x="6035040" y="4187952"/>
            <a:ext cx="411480" cy="411480"/>
          </a:xfrm>
          <a:prstGeom prst="ellipse">
            <a:avLst/>
          </a:prstGeom>
          <a:solidFill>
            <a:srgbClr val="0D6EFD"/>
          </a:solidFill>
          <a:ln/>
        </p:spPr>
      </p:sp>
      <p:sp>
        <p:nvSpPr>
          <p:cNvPr id="21" name="Text 19"/>
          <p:cNvSpPr/>
          <p:nvPr/>
        </p:nvSpPr>
        <p:spPr>
          <a:xfrm>
            <a:off x="6035040" y="41879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583680" y="4169664"/>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LoginPage.jsx</a:t>
            </a:r>
            <a:endParaRPr lang="en-US" sz="1300" dirty="0"/>
          </a:p>
        </p:txBody>
      </p:sp>
      <p:sp>
        <p:nvSpPr>
          <p:cNvPr id="23" name="Text 21"/>
          <p:cNvSpPr/>
          <p:nvPr/>
        </p:nvSpPr>
        <p:spPr>
          <a:xfrm>
            <a:off x="6583680" y="4416552"/>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useState for inputs, useNavigate to redirect after login</a:t>
            </a:r>
            <a:endParaRPr lang="en-US" sz="1100" dirty="0"/>
          </a:p>
        </p:txBody>
      </p:sp>
      <p:sp>
        <p:nvSpPr>
          <p:cNvPr id="24" name="Shape 22"/>
          <p:cNvSpPr/>
          <p:nvPr/>
        </p:nvSpPr>
        <p:spPr>
          <a:xfrm>
            <a:off x="6035040" y="4754880"/>
            <a:ext cx="411480" cy="411480"/>
          </a:xfrm>
          <a:prstGeom prst="ellipse">
            <a:avLst/>
          </a:prstGeom>
          <a:solidFill>
            <a:srgbClr val="0D6EFD"/>
          </a:solidFill>
          <a:ln/>
        </p:spPr>
      </p:sp>
      <p:sp>
        <p:nvSpPr>
          <p:cNvPr id="25" name="Text 23"/>
          <p:cNvSpPr/>
          <p:nvPr/>
        </p:nvSpPr>
        <p:spPr>
          <a:xfrm>
            <a:off x="6035040" y="47548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6583680" y="4736592"/>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ProtectedRoute.jsx</a:t>
            </a:r>
            <a:endParaRPr lang="en-US" sz="1300" dirty="0"/>
          </a:p>
        </p:txBody>
      </p:sp>
      <p:sp>
        <p:nvSpPr>
          <p:cNvPr id="27" name="Text 25"/>
          <p:cNvSpPr/>
          <p:nvPr/>
        </p:nvSpPr>
        <p:spPr>
          <a:xfrm>
            <a:off x="6583680" y="4983480"/>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Only 8 lines, blocks the page if user is not logged in</a:t>
            </a:r>
            <a:endParaRPr lang="en-US" sz="1100" dirty="0"/>
          </a:p>
        </p:txBody>
      </p:sp>
      <p:sp>
        <p:nvSpPr>
          <p:cNvPr id="28" name="Shape 26"/>
          <p:cNvSpPr/>
          <p:nvPr/>
        </p:nvSpPr>
        <p:spPr>
          <a:xfrm>
            <a:off x="6035040" y="5321808"/>
            <a:ext cx="411480" cy="411480"/>
          </a:xfrm>
          <a:prstGeom prst="ellipse">
            <a:avLst/>
          </a:prstGeom>
          <a:solidFill>
            <a:srgbClr val="0D6EFD"/>
          </a:solidFill>
          <a:ln/>
        </p:spPr>
      </p:sp>
      <p:sp>
        <p:nvSpPr>
          <p:cNvPr id="29" name="Text 27"/>
          <p:cNvSpPr/>
          <p:nvPr/>
        </p:nvSpPr>
        <p:spPr>
          <a:xfrm>
            <a:off x="6035040" y="53218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0" name="Text 28"/>
          <p:cNvSpPr/>
          <p:nvPr/>
        </p:nvSpPr>
        <p:spPr>
          <a:xfrm>
            <a:off x="6583680" y="5303520"/>
            <a:ext cx="4937760" cy="256032"/>
          </a:xfrm>
          <a:prstGeom prst="rect">
            <a:avLst/>
          </a:prstGeom>
          <a:noFill/>
          <a:ln/>
        </p:spPr>
        <p:txBody>
          <a:bodyPr wrap="square" lIns="0" tIns="0" rIns="0" bIns="0" rtlCol="0" anchor="ctr"/>
          <a:lstStyle/>
          <a:p>
            <a:pPr indent="0" marL="0">
              <a:buNone/>
            </a:pPr>
            <a:r>
              <a:rPr lang="en-US" sz="1300" b="1" dirty="0">
                <a:solidFill>
                  <a:srgbClr val="042047"/>
                </a:solidFill>
                <a:latin typeface="Courier New" pitchFamily="34" charset="0"/>
                <a:ea typeface="Courier New" pitchFamily="34" charset="-122"/>
                <a:cs typeface="Courier New" pitchFamily="34" charset="-120"/>
              </a:rPr>
              <a:t>useDebounce.js</a:t>
            </a:r>
            <a:endParaRPr lang="en-US" sz="1300" dirty="0"/>
          </a:p>
        </p:txBody>
      </p:sp>
      <p:sp>
        <p:nvSpPr>
          <p:cNvPr id="31" name="Text 29"/>
          <p:cNvSpPr/>
          <p:nvPr/>
        </p:nvSpPr>
        <p:spPr>
          <a:xfrm>
            <a:off x="6583680" y="5550408"/>
            <a:ext cx="4937760" cy="274320"/>
          </a:xfrm>
          <a:prstGeom prst="rect">
            <a:avLst/>
          </a:prstGeom>
          <a:noFill/>
          <a:ln/>
        </p:spPr>
        <p:txBody>
          <a:bodyPr wrap="square" lIns="0" tIns="0" rIns="0" bIns="0" rtlCol="0" anchor="ctr"/>
          <a:lstStyle/>
          <a:p>
            <a:pPr indent="0" marL="0">
              <a:buNone/>
            </a:pPr>
            <a:r>
              <a:rPr lang="en-US" sz="1100" dirty="0">
                <a:solidFill>
                  <a:srgbClr val="585858"/>
                </a:solidFill>
                <a:latin typeface="Calibri" pitchFamily="34" charset="0"/>
                <a:ea typeface="Calibri" pitchFamily="34" charset="-122"/>
                <a:cs typeface="Calibri" pitchFamily="34" charset="-120"/>
              </a:rPr>
              <a:t>Custom hook, stops search running on every keystroke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Testing and Deployment</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How we checked it, and where it is live</a:t>
            </a:r>
            <a:endParaRPr lang="en-US" sz="1500" dirty="0"/>
          </a:p>
        </p:txBody>
      </p:sp>
      <p:sp>
        <p:nvSpPr>
          <p:cNvPr id="4" name="Shape 2"/>
          <p:cNvSpPr/>
          <p:nvPr/>
        </p:nvSpPr>
        <p:spPr>
          <a:xfrm>
            <a:off x="640080" y="1783080"/>
            <a:ext cx="5669280" cy="4114800"/>
          </a:xfrm>
          <a:prstGeom prst="roundRect">
            <a:avLst>
              <a:gd name="adj" fmla="val 2667"/>
            </a:avLst>
          </a:prstGeom>
          <a:solidFill>
            <a:srgbClr val="FFFF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5" name="Text 3"/>
          <p:cNvSpPr/>
          <p:nvPr/>
        </p:nvSpPr>
        <p:spPr>
          <a:xfrm>
            <a:off x="960120" y="2011680"/>
            <a:ext cx="3657600" cy="365760"/>
          </a:xfrm>
          <a:prstGeom prst="rect">
            <a:avLst/>
          </a:prstGeom>
          <a:noFill/>
          <a:ln/>
        </p:spPr>
        <p:txBody>
          <a:bodyPr wrap="square" lIns="0" tIns="0" rIns="0" bIns="0" rtlCol="0" anchor="ctr"/>
          <a:lstStyle/>
          <a:p>
            <a:pPr indent="0" marL="0">
              <a:buNone/>
            </a:pPr>
            <a:r>
              <a:rPr lang="en-US" sz="2100" b="1" dirty="0">
                <a:solidFill>
                  <a:srgbClr val="042047"/>
                </a:solidFill>
                <a:latin typeface="Cambria" pitchFamily="34" charset="0"/>
                <a:ea typeface="Cambria" pitchFamily="34" charset="-122"/>
                <a:cs typeface="Cambria" pitchFamily="34" charset="-120"/>
              </a:rPr>
              <a:t>Testing Done</a:t>
            </a:r>
            <a:endParaRPr lang="en-US" sz="2100" dirty="0"/>
          </a:p>
        </p:txBody>
      </p:sp>
      <p:sp>
        <p:nvSpPr>
          <p:cNvPr id="6" name="Text 4"/>
          <p:cNvSpPr/>
          <p:nvPr/>
        </p:nvSpPr>
        <p:spPr>
          <a:xfrm>
            <a:off x="960120" y="2514600"/>
            <a:ext cx="5029200" cy="31089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Form validation on Login and Signup pages</a:t>
            </a:r>
            <a:endParaRPr lang="en-US" sz="1350" dirty="0"/>
          </a:p>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Password mismatch and short password checks</a:t>
            </a:r>
            <a:endParaRPr lang="en-US" sz="1350" dirty="0"/>
          </a:p>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Protected route redirects when not logged in</a:t>
            </a:r>
            <a:endParaRPr lang="en-US" sz="1350" dirty="0"/>
          </a:p>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All navbar links open the correct page</a:t>
            </a:r>
            <a:endParaRPr lang="en-US" sz="1350" dirty="0"/>
          </a:p>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Layout checked at 1200, 768 and 420 px</a:t>
            </a:r>
            <a:endParaRPr lang="en-US" sz="1350" dirty="0"/>
          </a:p>
          <a:p>
            <a:pPr marL="342900" indent="-342900">
              <a:spcAft>
                <a:spcPts val="900"/>
              </a:spcAft>
              <a:buSzPct val="100000"/>
              <a:buChar char="•"/>
            </a:pPr>
            <a:r>
              <a:rPr lang="en-US" sz="1350" dirty="0">
                <a:solidFill>
                  <a:srgbClr val="042047"/>
                </a:solidFill>
                <a:latin typeface="Calibri" pitchFamily="34" charset="0"/>
                <a:ea typeface="Calibri" pitchFamily="34" charset="-122"/>
                <a:cs typeface="Calibri" pitchFamily="34" charset="-120"/>
              </a:rPr>
              <a:t>Tested on Chrome and Edge browsers</a:t>
            </a:r>
            <a:endParaRPr lang="en-US" sz="1350" dirty="0"/>
          </a:p>
        </p:txBody>
      </p:sp>
      <p:sp>
        <p:nvSpPr>
          <p:cNvPr id="7" name="Shape 5"/>
          <p:cNvSpPr/>
          <p:nvPr/>
        </p:nvSpPr>
        <p:spPr>
          <a:xfrm>
            <a:off x="6720840" y="1783080"/>
            <a:ext cx="4846320" cy="4114800"/>
          </a:xfrm>
          <a:prstGeom prst="roundRect">
            <a:avLst>
              <a:gd name="adj" fmla="val 2667"/>
            </a:avLst>
          </a:prstGeom>
          <a:solidFill>
            <a:srgbClr val="DCEEFF"/>
          </a:solidFill>
          <a:ln w="12700">
            <a:solidFill>
              <a:srgbClr val="DEE2E6"/>
            </a:solidFill>
            <a:prstDash val="solid"/>
          </a:ln>
          <a:effectLst>
            <a:outerShdw sx="100000" sy="100000" kx="0" ky="0" algn="bl" rotWithShape="0" blurRad="101600" dist="25400" dir="5400000">
              <a:srgbClr val="BFBFBF">
                <a:alpha val="35000"/>
              </a:srgbClr>
            </a:outerShdw>
          </a:effectLst>
        </p:spPr>
      </p:sp>
      <p:sp>
        <p:nvSpPr>
          <p:cNvPr id="8" name="Text 6"/>
          <p:cNvSpPr/>
          <p:nvPr/>
        </p:nvSpPr>
        <p:spPr>
          <a:xfrm>
            <a:off x="7040880" y="2011680"/>
            <a:ext cx="3657600" cy="365760"/>
          </a:xfrm>
          <a:prstGeom prst="rect">
            <a:avLst/>
          </a:prstGeom>
          <a:noFill/>
          <a:ln/>
        </p:spPr>
        <p:txBody>
          <a:bodyPr wrap="square" lIns="0" tIns="0" rIns="0" bIns="0" rtlCol="0" anchor="ctr"/>
          <a:lstStyle/>
          <a:p>
            <a:pPr indent="0" marL="0">
              <a:buNone/>
            </a:pPr>
            <a:r>
              <a:rPr lang="en-US" sz="2100" b="1" dirty="0">
                <a:solidFill>
                  <a:srgbClr val="042047"/>
                </a:solidFill>
                <a:latin typeface="Cambria" pitchFamily="34" charset="0"/>
                <a:ea typeface="Cambria" pitchFamily="34" charset="-122"/>
                <a:cs typeface="Cambria" pitchFamily="34" charset="-120"/>
              </a:rPr>
              <a:t>Deployment</a:t>
            </a:r>
            <a:endParaRPr lang="en-US" sz="2100" dirty="0"/>
          </a:p>
        </p:txBody>
      </p:sp>
      <p:sp>
        <p:nvSpPr>
          <p:cNvPr id="9" name="Text 7"/>
          <p:cNvSpPr/>
          <p:nvPr/>
        </p:nvSpPr>
        <p:spPr>
          <a:xfrm>
            <a:off x="7040880" y="2514600"/>
            <a:ext cx="4206240" cy="1463040"/>
          </a:xfrm>
          <a:prstGeom prst="rect">
            <a:avLst/>
          </a:prstGeom>
          <a:noFill/>
          <a:ln/>
        </p:spPr>
        <p:txBody>
          <a:bodyPr wrap="square" lIns="0" tIns="0" rIns="0" bIns="0" rtlCol="0" anchor="t"/>
          <a:lstStyle/>
          <a:p>
            <a:pPr indent="0" marL="0">
              <a:spcAft>
                <a:spcPts val="800"/>
              </a:spcAft>
              <a:buNone/>
            </a:pPr>
            <a:r>
              <a:rPr lang="en-US" sz="1300" b="1" dirty="0">
                <a:solidFill>
                  <a:srgbClr val="042047"/>
                </a:solidFill>
                <a:latin typeface="Calibri" pitchFamily="34" charset="0"/>
                <a:ea typeface="Calibri" pitchFamily="34" charset="-122"/>
                <a:cs typeface="Calibri" pitchFamily="34" charset="-120"/>
              </a:rPr>
              <a:t>Step 1: </a:t>
            </a:r>
            <a:pPr indent="0" marL="0">
              <a:spcAft>
                <a:spcPts val="800"/>
              </a:spcAft>
              <a:buNone/>
            </a:pPr>
            <a:r>
              <a:rPr lang="en-US" sz="1300" dirty="0">
                <a:solidFill>
                  <a:srgbClr val="042047"/>
                </a:solidFill>
                <a:latin typeface="Calibri" pitchFamily="34" charset="0"/>
                <a:ea typeface="Calibri" pitchFamily="34" charset="-122"/>
                <a:cs typeface="Calibri" pitchFamily="34" charset="-120"/>
              </a:rPr>
              <a:t>npm run build creates the dist folder</a:t>
            </a:r>
            <a:endParaRPr lang="en-US" sz="1300" dirty="0"/>
          </a:p>
          <a:p>
            <a:pPr indent="0" marL="0">
              <a:spcAft>
                <a:spcPts val="800"/>
              </a:spcAft>
              <a:buNone/>
            </a:pPr>
            <a:r>
              <a:rPr lang="en-US" sz="1300" b="1" dirty="0">
                <a:solidFill>
                  <a:srgbClr val="042047"/>
                </a:solidFill>
                <a:latin typeface="Calibri" pitchFamily="34" charset="0"/>
                <a:ea typeface="Calibri" pitchFamily="34" charset="-122"/>
                <a:cs typeface="Calibri" pitchFamily="34" charset="-120"/>
              </a:rPr>
              <a:t>Step 2: </a:t>
            </a:r>
            <a:pPr indent="0" marL="0">
              <a:spcAft>
                <a:spcPts val="800"/>
              </a:spcAft>
              <a:buNone/>
            </a:pPr>
            <a:r>
              <a:rPr lang="en-US" sz="1300" dirty="0">
                <a:solidFill>
                  <a:srgbClr val="042047"/>
                </a:solidFill>
                <a:latin typeface="Calibri" pitchFamily="34" charset="0"/>
                <a:ea typeface="Calibri" pitchFamily="34" charset="-122"/>
                <a:cs typeface="Calibri" pitchFamily="34" charset="-120"/>
              </a:rPr>
              <a:t>Upload dist folder to the hosting platform</a:t>
            </a:r>
            <a:endParaRPr lang="en-US" sz="1300" dirty="0"/>
          </a:p>
          <a:p>
            <a:pPr indent="0" marL="0">
              <a:spcAft>
                <a:spcPts val="800"/>
              </a:spcAft>
              <a:buNone/>
            </a:pPr>
            <a:r>
              <a:rPr lang="en-US" sz="1300" b="1" dirty="0">
                <a:solidFill>
                  <a:srgbClr val="042047"/>
                </a:solidFill>
                <a:latin typeface="Calibri" pitchFamily="34" charset="0"/>
                <a:ea typeface="Calibri" pitchFamily="34" charset="-122"/>
                <a:cs typeface="Calibri" pitchFamily="34" charset="-120"/>
              </a:rPr>
              <a:t>Step 3: </a:t>
            </a:r>
            <a:pPr indent="0" marL="0">
              <a:spcAft>
                <a:spcPts val="800"/>
              </a:spcAft>
              <a:buNone/>
            </a:pPr>
            <a:r>
              <a:rPr lang="en-US" sz="1300" dirty="0">
                <a:solidFill>
                  <a:srgbClr val="042047"/>
                </a:solidFill>
                <a:latin typeface="Calibri" pitchFamily="34" charset="0"/>
                <a:ea typeface="Calibri" pitchFamily="34" charset="-122"/>
                <a:cs typeface="Calibri" pitchFamily="34" charset="-120"/>
              </a:rPr>
              <a:t>Add redirect rule so React Router works on refresh</a:t>
            </a:r>
            <a:endParaRPr lang="en-US" sz="1300" dirty="0"/>
          </a:p>
        </p:txBody>
      </p:sp>
      <p:sp>
        <p:nvSpPr>
          <p:cNvPr id="10" name="Shape 8"/>
          <p:cNvSpPr/>
          <p:nvPr/>
        </p:nvSpPr>
        <p:spPr>
          <a:xfrm>
            <a:off x="7040880" y="3977640"/>
            <a:ext cx="4206240" cy="960120"/>
          </a:xfrm>
          <a:prstGeom prst="roundRect">
            <a:avLst>
              <a:gd name="adj" fmla="val 9524"/>
            </a:avLst>
          </a:prstGeom>
          <a:solidFill>
            <a:srgbClr val="042047"/>
          </a:solidFill>
          <a:ln/>
        </p:spPr>
      </p:sp>
      <p:sp>
        <p:nvSpPr>
          <p:cNvPr id="11" name="Text 9"/>
          <p:cNvSpPr/>
          <p:nvPr/>
        </p:nvSpPr>
        <p:spPr>
          <a:xfrm>
            <a:off x="7040880" y="4069080"/>
            <a:ext cx="4206240" cy="274320"/>
          </a:xfrm>
          <a:prstGeom prst="rect">
            <a:avLst/>
          </a:prstGeom>
          <a:noFill/>
          <a:ln/>
        </p:spPr>
        <p:txBody>
          <a:bodyPr wrap="square" lIns="0" tIns="0" rIns="0" bIns="0" rtlCol="0" anchor="ctr"/>
          <a:lstStyle/>
          <a:p>
            <a:pPr algn="ctr" indent="0" marL="0">
              <a:buNone/>
            </a:pPr>
            <a:r>
              <a:rPr lang="en-US" sz="1100" dirty="0">
                <a:solidFill>
                  <a:srgbClr val="9BB4D4"/>
                </a:solidFill>
                <a:latin typeface="Calibri" pitchFamily="34" charset="0"/>
                <a:ea typeface="Calibri" pitchFamily="34" charset="-122"/>
                <a:cs typeface="Calibri" pitchFamily="34" charset="-120"/>
              </a:rPr>
              <a:t>Live Link</a:t>
            </a:r>
            <a:endParaRPr lang="en-US" sz="1100" dirty="0"/>
          </a:p>
        </p:txBody>
      </p:sp>
      <p:sp>
        <p:nvSpPr>
          <p:cNvPr id="12" name="Text 10"/>
          <p:cNvSpPr/>
          <p:nvPr/>
        </p:nvSpPr>
        <p:spPr>
          <a:xfrm>
            <a:off x="7178040" y="4343400"/>
            <a:ext cx="3931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Paste your deployment link here ]</a:t>
            </a:r>
            <a:endParaRPr lang="en-US" sz="1300" dirty="0"/>
          </a:p>
        </p:txBody>
      </p:sp>
      <p:sp>
        <p:nvSpPr>
          <p:cNvPr id="13" name="Shape 11"/>
          <p:cNvSpPr/>
          <p:nvPr/>
        </p:nvSpPr>
        <p:spPr>
          <a:xfrm>
            <a:off x="7040880" y="5120640"/>
            <a:ext cx="4206240" cy="457200"/>
          </a:xfrm>
          <a:prstGeom prst="roundRect">
            <a:avLst>
              <a:gd name="adj" fmla="val 20000"/>
            </a:avLst>
          </a:prstGeom>
          <a:solidFill>
            <a:srgbClr val="DCEEFF"/>
          </a:solidFill>
          <a:ln w="12700">
            <a:solidFill>
              <a:srgbClr val="0D6EFD"/>
            </a:solidFill>
            <a:prstDash val="dash"/>
          </a:ln>
        </p:spPr>
      </p:sp>
      <p:sp>
        <p:nvSpPr>
          <p:cNvPr id="14" name="Text 12"/>
          <p:cNvSpPr/>
          <p:nvPr/>
        </p:nvSpPr>
        <p:spPr>
          <a:xfrm>
            <a:off x="7040880" y="5120640"/>
            <a:ext cx="4206240" cy="45720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QR code of the live link can go here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042047"/>
                </a:solidFill>
                <a:latin typeface="Cambria" pitchFamily="34" charset="0"/>
                <a:ea typeface="Cambria" pitchFamily="34" charset="-122"/>
                <a:cs typeface="Cambria" pitchFamily="34" charset="-120"/>
              </a:rPr>
              <a:t>Final Outcome</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585858"/>
                </a:solidFill>
                <a:latin typeface="Calibri" pitchFamily="34" charset="0"/>
                <a:ea typeface="Calibri" pitchFamily="34" charset="-122"/>
                <a:cs typeface="Calibri" pitchFamily="34" charset="-120"/>
              </a:rPr>
              <a:t>Screenshots of the finished pages</a:t>
            </a:r>
            <a:endParaRPr lang="en-US" sz="1500" dirty="0"/>
          </a:p>
        </p:txBody>
      </p:sp>
      <p:sp>
        <p:nvSpPr>
          <p:cNvPr id="4" name="Shape 2"/>
          <p:cNvSpPr/>
          <p:nvPr/>
        </p:nvSpPr>
        <p:spPr>
          <a:xfrm>
            <a:off x="640080" y="1783080"/>
            <a:ext cx="3474720" cy="2011680"/>
          </a:xfrm>
          <a:prstGeom prst="roundRect">
            <a:avLst>
              <a:gd name="adj" fmla="val 4545"/>
            </a:avLst>
          </a:prstGeom>
          <a:solidFill>
            <a:srgbClr val="DCEEFF"/>
          </a:solidFill>
          <a:ln w="12700">
            <a:solidFill>
              <a:srgbClr val="0D6EFD"/>
            </a:solidFill>
            <a:prstDash val="dash"/>
          </a:ln>
        </p:spPr>
      </p:sp>
      <p:sp>
        <p:nvSpPr>
          <p:cNvPr id="5" name="Text 3"/>
          <p:cNvSpPr/>
          <p:nvPr/>
        </p:nvSpPr>
        <p:spPr>
          <a:xfrm>
            <a:off x="640080" y="178308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Home Page</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
        <p:nvSpPr>
          <p:cNvPr id="6" name="Shape 4"/>
          <p:cNvSpPr/>
          <p:nvPr/>
        </p:nvSpPr>
        <p:spPr>
          <a:xfrm>
            <a:off x="4343400" y="1783080"/>
            <a:ext cx="3474720" cy="2011680"/>
          </a:xfrm>
          <a:prstGeom prst="roundRect">
            <a:avLst>
              <a:gd name="adj" fmla="val 4545"/>
            </a:avLst>
          </a:prstGeom>
          <a:solidFill>
            <a:srgbClr val="DCEEFF"/>
          </a:solidFill>
          <a:ln w="12700">
            <a:solidFill>
              <a:srgbClr val="0D6EFD"/>
            </a:solidFill>
            <a:prstDash val="dash"/>
          </a:ln>
        </p:spPr>
      </p:sp>
      <p:sp>
        <p:nvSpPr>
          <p:cNvPr id="7" name="Text 5"/>
          <p:cNvSpPr/>
          <p:nvPr/>
        </p:nvSpPr>
        <p:spPr>
          <a:xfrm>
            <a:off x="4343400" y="178308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Doctors Page</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
        <p:nvSpPr>
          <p:cNvPr id="8" name="Shape 6"/>
          <p:cNvSpPr/>
          <p:nvPr/>
        </p:nvSpPr>
        <p:spPr>
          <a:xfrm>
            <a:off x="8046720" y="1783080"/>
            <a:ext cx="3474720" cy="2011680"/>
          </a:xfrm>
          <a:prstGeom prst="roundRect">
            <a:avLst>
              <a:gd name="adj" fmla="val 4545"/>
            </a:avLst>
          </a:prstGeom>
          <a:solidFill>
            <a:srgbClr val="DCEEFF"/>
          </a:solidFill>
          <a:ln w="12700">
            <a:solidFill>
              <a:srgbClr val="0D6EFD"/>
            </a:solidFill>
            <a:prstDash val="dash"/>
          </a:ln>
        </p:spPr>
      </p:sp>
      <p:sp>
        <p:nvSpPr>
          <p:cNvPr id="9" name="Text 7"/>
          <p:cNvSpPr/>
          <p:nvPr/>
        </p:nvSpPr>
        <p:spPr>
          <a:xfrm>
            <a:off x="8046720" y="178308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Appointment Page</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
        <p:nvSpPr>
          <p:cNvPr id="10" name="Shape 8"/>
          <p:cNvSpPr/>
          <p:nvPr/>
        </p:nvSpPr>
        <p:spPr>
          <a:xfrm>
            <a:off x="640080" y="3977640"/>
            <a:ext cx="3474720" cy="2011680"/>
          </a:xfrm>
          <a:prstGeom prst="roundRect">
            <a:avLst>
              <a:gd name="adj" fmla="val 4545"/>
            </a:avLst>
          </a:prstGeom>
          <a:solidFill>
            <a:srgbClr val="DCEEFF"/>
          </a:solidFill>
          <a:ln w="12700">
            <a:solidFill>
              <a:srgbClr val="0D6EFD"/>
            </a:solidFill>
            <a:prstDash val="dash"/>
          </a:ln>
        </p:spPr>
      </p:sp>
      <p:sp>
        <p:nvSpPr>
          <p:cNvPr id="11" name="Text 9"/>
          <p:cNvSpPr/>
          <p:nvPr/>
        </p:nvSpPr>
        <p:spPr>
          <a:xfrm>
            <a:off x="640080" y="397764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Login Page</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
        <p:nvSpPr>
          <p:cNvPr id="12" name="Shape 10"/>
          <p:cNvSpPr/>
          <p:nvPr/>
        </p:nvSpPr>
        <p:spPr>
          <a:xfrm>
            <a:off x="4343400" y="3977640"/>
            <a:ext cx="3474720" cy="2011680"/>
          </a:xfrm>
          <a:prstGeom prst="roundRect">
            <a:avLst>
              <a:gd name="adj" fmla="val 4545"/>
            </a:avLst>
          </a:prstGeom>
          <a:solidFill>
            <a:srgbClr val="DCEEFF"/>
          </a:solidFill>
          <a:ln w="12700">
            <a:solidFill>
              <a:srgbClr val="0D6EFD"/>
            </a:solidFill>
            <a:prstDash val="dash"/>
          </a:ln>
        </p:spPr>
      </p:sp>
      <p:sp>
        <p:nvSpPr>
          <p:cNvPr id="13" name="Text 11"/>
          <p:cNvSpPr/>
          <p:nvPr/>
        </p:nvSpPr>
        <p:spPr>
          <a:xfrm>
            <a:off x="4343400" y="397764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Dashboard</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
        <p:nvSpPr>
          <p:cNvPr id="14" name="Shape 12"/>
          <p:cNvSpPr/>
          <p:nvPr/>
        </p:nvSpPr>
        <p:spPr>
          <a:xfrm>
            <a:off x="8046720" y="3977640"/>
            <a:ext cx="3474720" cy="2011680"/>
          </a:xfrm>
          <a:prstGeom prst="roundRect">
            <a:avLst>
              <a:gd name="adj" fmla="val 4545"/>
            </a:avLst>
          </a:prstGeom>
          <a:solidFill>
            <a:srgbClr val="DCEEFF"/>
          </a:solidFill>
          <a:ln w="12700">
            <a:solidFill>
              <a:srgbClr val="0D6EFD"/>
            </a:solidFill>
            <a:prstDash val="dash"/>
          </a:ln>
        </p:spPr>
      </p:sp>
      <p:sp>
        <p:nvSpPr>
          <p:cNvPr id="15" name="Text 13"/>
          <p:cNvSpPr/>
          <p:nvPr/>
        </p:nvSpPr>
        <p:spPr>
          <a:xfrm>
            <a:off x="8046720" y="3977640"/>
            <a:ext cx="3474720" cy="2011680"/>
          </a:xfrm>
          <a:prstGeom prst="rect">
            <a:avLst/>
          </a:prstGeom>
          <a:noFill/>
          <a:ln/>
        </p:spPr>
        <p:txBody>
          <a:bodyPr wrap="square" lIns="0" tIns="0" rIns="0" bIns="0" rtlCol="0" anchor="ctr"/>
          <a:lstStyle/>
          <a:p>
            <a:pPr algn="ctr" indent="0" marL="0">
              <a:buNone/>
            </a:pPr>
            <a:r>
              <a:rPr lang="en-US" sz="1200" i="1" dirty="0">
                <a:solidFill>
                  <a:srgbClr val="0D6EFD"/>
                </a:solidFill>
                <a:latin typeface="Calibri" pitchFamily="34" charset="0"/>
                <a:ea typeface="Calibri" pitchFamily="34" charset="-122"/>
                <a:cs typeface="Calibri" pitchFamily="34" charset="-120"/>
              </a:rPr>
              <a:t>Contact Page</a:t>
            </a:r>
            <a:endParaRPr lang="en-US" sz="1200" dirty="0"/>
          </a:p>
          <a:p>
            <a:pPr algn="ctr" indent="0" marL="0">
              <a:buNone/>
            </a:pPr>
            <a:r>
              <a:rPr lang="en-US" sz="1200" i="1" dirty="0">
                <a:solidFill>
                  <a:srgbClr val="0D6EFD"/>
                </a:solidFill>
                <a:latin typeface="Calibri" pitchFamily="34" charset="0"/>
                <a:ea typeface="Calibri" pitchFamily="34" charset="-122"/>
                <a:cs typeface="Calibri" pitchFamily="34" charset="-120"/>
              </a:rPr>
              <a:t>screenshot here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2047"/>
        </a:solidFill>
      </p:bgPr>
    </p:bg>
    <p:spTree>
      <p:nvGrpSpPr>
        <p:cNvPr id="1" name=""/>
        <p:cNvGrpSpPr/>
        <p:nvPr/>
      </p:nvGrpSpPr>
      <p:grpSpPr>
        <a:xfrm>
          <a:off x="0" y="0"/>
          <a:ext cx="0" cy="0"/>
          <a:chOff x="0" y="0"/>
          <a:chExt cx="0" cy="0"/>
        </a:xfrm>
      </p:grpSpPr>
      <p:sp>
        <p:nvSpPr>
          <p:cNvPr id="2" name="Text 0"/>
          <p:cNvSpPr/>
          <p:nvPr/>
        </p:nvSpPr>
        <p:spPr>
          <a:xfrm>
            <a:off x="640080" y="411480"/>
            <a:ext cx="10908792"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Future Requirements</a:t>
            </a:r>
            <a:endParaRPr lang="en-US" sz="3400" dirty="0"/>
          </a:p>
        </p:txBody>
      </p:sp>
      <p:sp>
        <p:nvSpPr>
          <p:cNvPr id="3" name="Text 1"/>
          <p:cNvSpPr/>
          <p:nvPr/>
        </p:nvSpPr>
        <p:spPr>
          <a:xfrm>
            <a:off x="640080" y="1115568"/>
            <a:ext cx="10908792" cy="365760"/>
          </a:xfrm>
          <a:prstGeom prst="rect">
            <a:avLst/>
          </a:prstGeom>
          <a:noFill/>
          <a:ln/>
        </p:spPr>
        <p:txBody>
          <a:bodyPr wrap="square" lIns="0" tIns="0" rIns="0" bIns="0" rtlCol="0" anchor="ctr"/>
          <a:lstStyle/>
          <a:p>
            <a:pPr indent="0" marL="0">
              <a:buNone/>
            </a:pPr>
            <a:r>
              <a:rPr lang="en-US" sz="1500" dirty="0">
                <a:solidFill>
                  <a:srgbClr val="9BB4D4"/>
                </a:solidFill>
                <a:latin typeface="Calibri" pitchFamily="34" charset="0"/>
                <a:ea typeface="Calibri" pitchFamily="34" charset="-122"/>
                <a:cs typeface="Calibri" pitchFamily="34" charset="-120"/>
              </a:rPr>
              <a:t>What we want to add in the next phase</a:t>
            </a:r>
            <a:endParaRPr lang="en-US" sz="1500" dirty="0"/>
          </a:p>
        </p:txBody>
      </p:sp>
      <p:sp>
        <p:nvSpPr>
          <p:cNvPr id="4" name="Shape 2"/>
          <p:cNvSpPr/>
          <p:nvPr/>
        </p:nvSpPr>
        <p:spPr>
          <a:xfrm>
            <a:off x="640080" y="1737360"/>
            <a:ext cx="10908792" cy="1234440"/>
          </a:xfrm>
          <a:prstGeom prst="roundRect">
            <a:avLst>
              <a:gd name="adj" fmla="val 8889"/>
            </a:avLst>
          </a:prstGeom>
          <a:solidFill>
            <a:srgbClr val="0A305F"/>
          </a:solidFill>
          <a:ln w="12700">
            <a:solidFill>
              <a:srgbClr val="0D6EFD"/>
            </a:solidFill>
            <a:prstDash val="solid"/>
          </a:ln>
        </p:spPr>
      </p:sp>
      <p:sp>
        <p:nvSpPr>
          <p:cNvPr id="5" name="Text 3"/>
          <p:cNvSpPr/>
          <p:nvPr/>
        </p:nvSpPr>
        <p:spPr>
          <a:xfrm>
            <a:off x="1005840" y="1874520"/>
            <a:ext cx="10177272" cy="960120"/>
          </a:xfrm>
          <a:prstGeom prst="rect">
            <a:avLst/>
          </a:prstGeom>
          <a:noFill/>
          <a:ln/>
        </p:spPr>
        <p:txBody>
          <a:bodyPr wrap="square" lIns="0" tIns="0" rIns="0" bIns="0" rtlCol="0" anchor="ctr"/>
          <a:lstStyle/>
          <a:p>
            <a:pPr indent="0" marL="0">
              <a:buNone/>
            </a:pPr>
            <a:r>
              <a:rPr lang="en-US" sz="1600" dirty="0">
                <a:solidFill>
                  <a:srgbClr val="DCEEFF"/>
                </a:solidFill>
                <a:latin typeface="Calibri" pitchFamily="34" charset="0"/>
                <a:ea typeface="Calibri" pitchFamily="34" charset="-122"/>
                <a:cs typeface="Calibri" pitchFamily="34" charset="-120"/>
              </a:rPr>
              <a:t>Right now our data is stored in JSON files. </a:t>
            </a:r>
            <a:pPr indent="0" marL="0">
              <a:buNone/>
            </a:pPr>
            <a:r>
              <a:rPr lang="en-US" sz="1600" b="1" dirty="0">
                <a:solidFill>
                  <a:srgbClr val="FFFFFF"/>
                </a:solidFill>
                <a:latin typeface="Calibri" pitchFamily="34" charset="0"/>
                <a:ea typeface="Calibri" pitchFamily="34" charset="-122"/>
                <a:cs typeface="Calibri" pitchFamily="34" charset="-120"/>
              </a:rPr>
              <a:t>The main next step is a real backend using Python, either Flask or Django, with a proper database.</a:t>
            </a:r>
            <a:endParaRPr lang="en-US" sz="1600" dirty="0"/>
          </a:p>
        </p:txBody>
      </p:sp>
      <p:sp>
        <p:nvSpPr>
          <p:cNvPr id="6" name="Shape 4"/>
          <p:cNvSpPr/>
          <p:nvPr/>
        </p:nvSpPr>
        <p:spPr>
          <a:xfrm>
            <a:off x="640080" y="3200400"/>
            <a:ext cx="3392424" cy="1280160"/>
          </a:xfrm>
          <a:prstGeom prst="roundRect">
            <a:avLst>
              <a:gd name="adj" fmla="val 7143"/>
            </a:avLst>
          </a:prstGeom>
          <a:solidFill>
            <a:srgbClr val="0A305F"/>
          </a:solidFill>
          <a:ln w="12700">
            <a:solidFill>
              <a:srgbClr val="16457F"/>
            </a:solidFill>
            <a:prstDash val="solid"/>
          </a:ln>
        </p:spPr>
      </p:sp>
      <p:sp>
        <p:nvSpPr>
          <p:cNvPr id="7" name="Text 5"/>
          <p:cNvSpPr/>
          <p:nvPr/>
        </p:nvSpPr>
        <p:spPr>
          <a:xfrm>
            <a:off x="868680" y="333756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Python Backend</a:t>
            </a:r>
            <a:endParaRPr lang="en-US" sz="1500" dirty="0"/>
          </a:p>
        </p:txBody>
      </p:sp>
      <p:sp>
        <p:nvSpPr>
          <p:cNvPr id="8" name="Text 6"/>
          <p:cNvSpPr/>
          <p:nvPr/>
        </p:nvSpPr>
        <p:spPr>
          <a:xfrm>
            <a:off x="868680" y="370332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Flask or Django REST API to handle all the data</a:t>
            </a:r>
            <a:endParaRPr lang="en-US" sz="1150" dirty="0"/>
          </a:p>
        </p:txBody>
      </p:sp>
      <p:sp>
        <p:nvSpPr>
          <p:cNvPr id="9" name="Shape 7"/>
          <p:cNvSpPr/>
          <p:nvPr/>
        </p:nvSpPr>
        <p:spPr>
          <a:xfrm>
            <a:off x="4398264" y="3200400"/>
            <a:ext cx="3392424" cy="1280160"/>
          </a:xfrm>
          <a:prstGeom prst="roundRect">
            <a:avLst>
              <a:gd name="adj" fmla="val 7143"/>
            </a:avLst>
          </a:prstGeom>
          <a:solidFill>
            <a:srgbClr val="0A305F"/>
          </a:solidFill>
          <a:ln w="12700">
            <a:solidFill>
              <a:srgbClr val="16457F"/>
            </a:solidFill>
            <a:prstDash val="solid"/>
          </a:ln>
        </p:spPr>
      </p:sp>
      <p:sp>
        <p:nvSpPr>
          <p:cNvPr id="10" name="Text 8"/>
          <p:cNvSpPr/>
          <p:nvPr/>
        </p:nvSpPr>
        <p:spPr>
          <a:xfrm>
            <a:off x="4626864" y="333756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Database</a:t>
            </a:r>
            <a:endParaRPr lang="en-US" sz="1500" dirty="0"/>
          </a:p>
        </p:txBody>
      </p:sp>
      <p:sp>
        <p:nvSpPr>
          <p:cNvPr id="11" name="Text 9"/>
          <p:cNvSpPr/>
          <p:nvPr/>
        </p:nvSpPr>
        <p:spPr>
          <a:xfrm>
            <a:off x="4626864" y="370332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MySQL or MongoDB so records are saved permanently</a:t>
            </a:r>
            <a:endParaRPr lang="en-US" sz="1150" dirty="0"/>
          </a:p>
        </p:txBody>
      </p:sp>
      <p:sp>
        <p:nvSpPr>
          <p:cNvPr id="12" name="Shape 10"/>
          <p:cNvSpPr/>
          <p:nvPr/>
        </p:nvSpPr>
        <p:spPr>
          <a:xfrm>
            <a:off x="8156448" y="3200400"/>
            <a:ext cx="3392424" cy="1280160"/>
          </a:xfrm>
          <a:prstGeom prst="roundRect">
            <a:avLst>
              <a:gd name="adj" fmla="val 7143"/>
            </a:avLst>
          </a:prstGeom>
          <a:solidFill>
            <a:srgbClr val="0A305F"/>
          </a:solidFill>
          <a:ln w="12700">
            <a:solidFill>
              <a:srgbClr val="16457F"/>
            </a:solidFill>
            <a:prstDash val="solid"/>
          </a:ln>
        </p:spPr>
      </p:sp>
      <p:sp>
        <p:nvSpPr>
          <p:cNvPr id="13" name="Text 11"/>
          <p:cNvSpPr/>
          <p:nvPr/>
        </p:nvSpPr>
        <p:spPr>
          <a:xfrm>
            <a:off x="8385048" y="333756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Real Authentication</a:t>
            </a:r>
            <a:endParaRPr lang="en-US" sz="1500" dirty="0"/>
          </a:p>
        </p:txBody>
      </p:sp>
      <p:sp>
        <p:nvSpPr>
          <p:cNvPr id="14" name="Text 12"/>
          <p:cNvSpPr/>
          <p:nvPr/>
        </p:nvSpPr>
        <p:spPr>
          <a:xfrm>
            <a:off x="8385048" y="370332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JWT tokens and hashed passwords instead of localStorage</a:t>
            </a:r>
            <a:endParaRPr lang="en-US" sz="1150" dirty="0"/>
          </a:p>
        </p:txBody>
      </p:sp>
      <p:sp>
        <p:nvSpPr>
          <p:cNvPr id="15" name="Shape 13"/>
          <p:cNvSpPr/>
          <p:nvPr/>
        </p:nvSpPr>
        <p:spPr>
          <a:xfrm>
            <a:off x="640080" y="4754880"/>
            <a:ext cx="3392424" cy="1280160"/>
          </a:xfrm>
          <a:prstGeom prst="roundRect">
            <a:avLst>
              <a:gd name="adj" fmla="val 7143"/>
            </a:avLst>
          </a:prstGeom>
          <a:solidFill>
            <a:srgbClr val="0A305F"/>
          </a:solidFill>
          <a:ln w="12700">
            <a:solidFill>
              <a:srgbClr val="16457F"/>
            </a:solidFill>
            <a:prstDash val="solid"/>
          </a:ln>
        </p:spPr>
      </p:sp>
      <p:sp>
        <p:nvSpPr>
          <p:cNvPr id="16" name="Text 14"/>
          <p:cNvSpPr/>
          <p:nvPr/>
        </p:nvSpPr>
        <p:spPr>
          <a:xfrm>
            <a:off x="868680" y="489204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Doctor Panel</a:t>
            </a:r>
            <a:endParaRPr lang="en-US" sz="1500" dirty="0"/>
          </a:p>
        </p:txBody>
      </p:sp>
      <p:sp>
        <p:nvSpPr>
          <p:cNvPr id="17" name="Text 15"/>
          <p:cNvSpPr/>
          <p:nvPr/>
        </p:nvSpPr>
        <p:spPr>
          <a:xfrm>
            <a:off x="868680" y="525780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Doctors can login and manage their own schedule</a:t>
            </a:r>
            <a:endParaRPr lang="en-US" sz="1150" dirty="0"/>
          </a:p>
        </p:txBody>
      </p:sp>
      <p:sp>
        <p:nvSpPr>
          <p:cNvPr id="18" name="Shape 16"/>
          <p:cNvSpPr/>
          <p:nvPr/>
        </p:nvSpPr>
        <p:spPr>
          <a:xfrm>
            <a:off x="4398264" y="4754880"/>
            <a:ext cx="3392424" cy="1280160"/>
          </a:xfrm>
          <a:prstGeom prst="roundRect">
            <a:avLst>
              <a:gd name="adj" fmla="val 7143"/>
            </a:avLst>
          </a:prstGeom>
          <a:solidFill>
            <a:srgbClr val="0A305F"/>
          </a:solidFill>
          <a:ln w="12700">
            <a:solidFill>
              <a:srgbClr val="16457F"/>
            </a:solidFill>
            <a:prstDash val="solid"/>
          </a:ln>
        </p:spPr>
      </p:sp>
      <p:sp>
        <p:nvSpPr>
          <p:cNvPr id="19" name="Text 17"/>
          <p:cNvSpPr/>
          <p:nvPr/>
        </p:nvSpPr>
        <p:spPr>
          <a:xfrm>
            <a:off x="4626864" y="489204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Notifications</a:t>
            </a:r>
            <a:endParaRPr lang="en-US" sz="1500" dirty="0"/>
          </a:p>
        </p:txBody>
      </p:sp>
      <p:sp>
        <p:nvSpPr>
          <p:cNvPr id="20" name="Text 18"/>
          <p:cNvSpPr/>
          <p:nvPr/>
        </p:nvSpPr>
        <p:spPr>
          <a:xfrm>
            <a:off x="4626864" y="525780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Email and SMS reminders before appointment</a:t>
            </a:r>
            <a:endParaRPr lang="en-US" sz="1150" dirty="0"/>
          </a:p>
        </p:txBody>
      </p:sp>
      <p:sp>
        <p:nvSpPr>
          <p:cNvPr id="21" name="Shape 19"/>
          <p:cNvSpPr/>
          <p:nvPr/>
        </p:nvSpPr>
        <p:spPr>
          <a:xfrm>
            <a:off x="8156448" y="4754880"/>
            <a:ext cx="3392424" cy="1280160"/>
          </a:xfrm>
          <a:prstGeom prst="roundRect">
            <a:avLst>
              <a:gd name="adj" fmla="val 7143"/>
            </a:avLst>
          </a:prstGeom>
          <a:solidFill>
            <a:srgbClr val="0A305F"/>
          </a:solidFill>
          <a:ln w="12700">
            <a:solidFill>
              <a:srgbClr val="16457F"/>
            </a:solidFill>
            <a:prstDash val="solid"/>
          </a:ln>
        </p:spPr>
      </p:sp>
      <p:sp>
        <p:nvSpPr>
          <p:cNvPr id="22" name="Text 20"/>
          <p:cNvSpPr/>
          <p:nvPr/>
        </p:nvSpPr>
        <p:spPr>
          <a:xfrm>
            <a:off x="8385048" y="4892040"/>
            <a:ext cx="2935224" cy="320040"/>
          </a:xfrm>
          <a:prstGeom prst="rect">
            <a:avLst/>
          </a:prstGeom>
          <a:noFill/>
          <a:ln/>
        </p:spPr>
        <p:txBody>
          <a:bodyPr wrap="square" lIns="0" tIns="0" rIns="0" bIns="0" rtlCol="0" anchor="ctr"/>
          <a:lstStyle/>
          <a:p>
            <a:pPr indent="0" marL="0">
              <a:buNone/>
            </a:pPr>
            <a:r>
              <a:rPr lang="en-US" sz="1500" b="1" dirty="0">
                <a:solidFill>
                  <a:srgbClr val="8FBBFF"/>
                </a:solidFill>
                <a:latin typeface="Calibri" pitchFamily="34" charset="0"/>
                <a:ea typeface="Calibri" pitchFamily="34" charset="-122"/>
                <a:cs typeface="Calibri" pitchFamily="34" charset="-120"/>
              </a:rPr>
              <a:t>Online Payment</a:t>
            </a:r>
            <a:endParaRPr lang="en-US" sz="1500" dirty="0"/>
          </a:p>
        </p:txBody>
      </p:sp>
      <p:sp>
        <p:nvSpPr>
          <p:cNvPr id="23" name="Text 21"/>
          <p:cNvSpPr/>
          <p:nvPr/>
        </p:nvSpPr>
        <p:spPr>
          <a:xfrm>
            <a:off x="8385048" y="5257800"/>
            <a:ext cx="2935224" cy="594360"/>
          </a:xfrm>
          <a:prstGeom prst="rect">
            <a:avLst/>
          </a:prstGeom>
          <a:noFill/>
          <a:ln/>
        </p:spPr>
        <p:txBody>
          <a:bodyPr wrap="square" lIns="0" tIns="0" rIns="0" bIns="0" rtlCol="0" anchor="ctr"/>
          <a:lstStyle/>
          <a:p>
            <a:pPr indent="0" marL="0">
              <a:buNone/>
            </a:pPr>
            <a:r>
              <a:rPr lang="en-US" sz="1150" dirty="0">
                <a:solidFill>
                  <a:srgbClr val="9BB4D4"/>
                </a:solidFill>
                <a:latin typeface="Calibri" pitchFamily="34" charset="0"/>
                <a:ea typeface="Calibri" pitchFamily="34" charset="-122"/>
                <a:cs typeface="Calibri" pitchFamily="34" charset="-120"/>
              </a:rPr>
              <a:t>Pay consultation fee while booking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2047"/>
        </a:solidFill>
      </p:bgPr>
    </p:bg>
    <p:spTree>
      <p:nvGrpSpPr>
        <p:cNvPr id="1" name=""/>
        <p:cNvGrpSpPr/>
        <p:nvPr/>
      </p:nvGrpSpPr>
      <p:grpSpPr>
        <a:xfrm>
          <a:off x="0" y="0"/>
          <a:ext cx="0" cy="0"/>
          <a:chOff x="0" y="0"/>
          <a:chExt cx="0" cy="0"/>
        </a:xfrm>
      </p:grpSpPr>
      <p:sp>
        <p:nvSpPr>
          <p:cNvPr id="2" name="Shape 0"/>
          <p:cNvSpPr/>
          <p:nvPr/>
        </p:nvSpPr>
        <p:spPr>
          <a:xfrm>
            <a:off x="9966960" y="4023360"/>
            <a:ext cx="3840480" cy="3840480"/>
          </a:xfrm>
          <a:prstGeom prst="ellipse">
            <a:avLst/>
          </a:prstGeom>
          <a:solidFill>
            <a:srgbClr val="0A305F"/>
          </a:solidFill>
          <a:ln/>
        </p:spPr>
      </p:sp>
      <p:sp>
        <p:nvSpPr>
          <p:cNvPr id="3" name="Shape 1"/>
          <p:cNvSpPr/>
          <p:nvPr/>
        </p:nvSpPr>
        <p:spPr>
          <a:xfrm>
            <a:off x="-1097280" y="-1280160"/>
            <a:ext cx="3108960" cy="3108960"/>
          </a:xfrm>
          <a:prstGeom prst="ellipse">
            <a:avLst/>
          </a:prstGeom>
          <a:solidFill>
            <a:srgbClr val="0A305F"/>
          </a:solidFill>
          <a:ln/>
        </p:spPr>
      </p:sp>
      <p:sp>
        <p:nvSpPr>
          <p:cNvPr id="4" name="Text 2"/>
          <p:cNvSpPr/>
          <p:nvPr/>
        </p:nvSpPr>
        <p:spPr>
          <a:xfrm>
            <a:off x="0" y="2331720"/>
            <a:ext cx="12188952"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5" name="Text 3"/>
          <p:cNvSpPr/>
          <p:nvPr/>
        </p:nvSpPr>
        <p:spPr>
          <a:xfrm>
            <a:off x="0" y="3383280"/>
            <a:ext cx="12188952" cy="457200"/>
          </a:xfrm>
          <a:prstGeom prst="rect">
            <a:avLst/>
          </a:prstGeom>
          <a:noFill/>
          <a:ln/>
        </p:spPr>
        <p:txBody>
          <a:bodyPr wrap="square" lIns="0" tIns="0" rIns="0" bIns="0" rtlCol="0" anchor="ctr"/>
          <a:lstStyle/>
          <a:p>
            <a:pPr algn="ctr" indent="0" marL="0">
              <a:buNone/>
            </a:pPr>
            <a:r>
              <a:rPr lang="en-US" sz="1900" dirty="0">
                <a:solidFill>
                  <a:srgbClr val="DCEEFF"/>
                </a:solidFill>
                <a:latin typeface="Calibri" pitchFamily="34" charset="0"/>
                <a:ea typeface="Calibri" pitchFamily="34" charset="-122"/>
                <a:cs typeface="Calibri" pitchFamily="34" charset="-120"/>
              </a:rPr>
              <a:t>Questions are welcome</a:t>
            </a:r>
            <a:endParaRPr lang="en-US" sz="1900" dirty="0"/>
          </a:p>
        </p:txBody>
      </p:sp>
      <p:sp>
        <p:nvSpPr>
          <p:cNvPr id="6" name="Text 4"/>
          <p:cNvSpPr/>
          <p:nvPr/>
        </p:nvSpPr>
        <p:spPr>
          <a:xfrm>
            <a:off x="0" y="4480560"/>
            <a:ext cx="12188952" cy="365760"/>
          </a:xfrm>
          <a:prstGeom prst="rect">
            <a:avLst/>
          </a:prstGeom>
          <a:noFill/>
          <a:ln/>
        </p:spPr>
        <p:txBody>
          <a:bodyPr wrap="square" lIns="0" tIns="0" rIns="0" bIns="0" rtlCol="0" anchor="ctr"/>
          <a:lstStyle/>
          <a:p>
            <a:pPr algn="ctr" indent="0" marL="0">
              <a:buNone/>
            </a:pPr>
            <a:r>
              <a:rPr lang="en-US" sz="1500" dirty="0">
                <a:solidFill>
                  <a:srgbClr val="9BB4D4"/>
                </a:solidFill>
                <a:latin typeface="Calibri" pitchFamily="34" charset="0"/>
                <a:ea typeface="Calibri" pitchFamily="34" charset="-122"/>
                <a:cs typeface="Calibri" pitchFamily="34" charset="-120"/>
              </a:rPr>
              <a:t>Manikanta  |  Nandini  |  Chaitanya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2026-08-20T12:23:18Z</dcterms:created>
  <dcterms:modified xsi:type="dcterms:W3CDTF">2026-08-20T12:23:18Z</dcterms:modified>
</cp:coreProperties>
</file>